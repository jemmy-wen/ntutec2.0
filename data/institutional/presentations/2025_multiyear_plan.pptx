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70" r:id="rId5"/>
    <p:sldId id="261" r:id="rId6"/>
    <p:sldId id="262" r:id="rId7"/>
    <p:sldId id="263" r:id="rId8"/>
    <p:sldId id="264" r:id="rId9"/>
    <p:sldId id="272" r:id="rId10"/>
    <p:sldId id="273" r:id="rId11"/>
    <p:sldId id="271" r:id="rId12"/>
    <p:sldId id="260" r:id="rId13"/>
    <p:sldId id="265" r:id="rId14"/>
    <p:sldId id="266" r:id="rId15"/>
    <p:sldId id="267" r:id="rId16"/>
    <p:sldId id="268" r:id="rId17"/>
    <p:sldId id="269" r:id="rId18"/>
  </p:sldIdLst>
  <p:sldSz cx="9144000" cy="5143500" type="screen16x9"/>
  <p:notesSz cx="6858000" cy="9144000"/>
  <p:embeddedFontLst>
    <p:embeddedFont>
      <p:font typeface="Calibri" panose="020F0502020204030204" pitchFamily="34" charset="0"/>
      <p:regular r:id="rId20"/>
      <p:bold r:id="rId21"/>
      <p:italic r:id="rId22"/>
      <p:boldItalic r:id="rId23"/>
    </p:embeddedFont>
    <p:embeddedFont>
      <p:font typeface="Open Sans" panose="020B0606030504020204" pitchFamily="34" charset="0"/>
      <p:regular r:id="rId24"/>
      <p:bold r:id="rId25"/>
      <p:italic r:id="rId26"/>
      <p:boldItalic r:id="rId27"/>
    </p:embeddedFont>
    <p:embeddedFont>
      <p:font typeface="PT Sans Narrow" panose="020B0506020203020204" pitchFamily="3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E64BA81-3E8A-4EED-A53E-4920B04D34E3}">
  <a:tblStyle styleId="{9E64BA81-3E8A-4EED-A53E-4920B04D34E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4A2EA47-6575-4F5B-A215-B25CD3342101}"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20"/>
    <p:restoredTop sz="93103" autoAdjust="0"/>
  </p:normalViewPr>
  <p:slideViewPr>
    <p:cSldViewPr snapToGrid="0">
      <p:cViewPr>
        <p:scale>
          <a:sx n="80" d="100"/>
          <a:sy n="80" d="100"/>
        </p:scale>
        <p:origin x="633" y="-48"/>
      </p:cViewPr>
      <p:guideLst>
        <p:guide orient="horz" pos="1620"/>
        <p:guide pos="2880"/>
      </p:guideLst>
    </p:cSldViewPr>
  </p:slideViewPr>
  <p:notesTextViewPr>
    <p:cViewPr>
      <p:scale>
        <a:sx n="1" d="1"/>
        <a:sy n="1" d="1"/>
      </p:scale>
      <p:origin x="0" y="0"/>
    </p:cViewPr>
  </p:notesTextViewPr>
  <p:sorterViewPr>
    <p:cViewPr>
      <p:scale>
        <a:sx n="100" d="100"/>
        <a:sy n="100" d="100"/>
      </p:scale>
      <p:origin x="0" y="-300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e28e5a211b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e28e5a211b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e28e5a211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e28e5a211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457200" algn="l" rtl="0">
              <a:lnSpc>
                <a:spcPct val="115000"/>
              </a:lnSpc>
              <a:spcBef>
                <a:spcPts val="0"/>
              </a:spcBef>
              <a:spcAft>
                <a:spcPts val="0"/>
              </a:spcAft>
              <a:buClr>
                <a:schemeClr val="dk1"/>
              </a:buClr>
              <a:buSzPts val="1100"/>
              <a:buFont typeface="Arial"/>
              <a:buNone/>
            </a:pPr>
            <a:r>
              <a:rPr lang="zh-TW" sz="1200">
                <a:solidFill>
                  <a:schemeClr val="dk1"/>
                </a:solidFill>
                <a:latin typeface="宋體-簡"/>
                <a:ea typeface="宋體-簡"/>
                <a:cs typeface="宋體-簡"/>
                <a:sym typeface="宋體-簡"/>
              </a:rPr>
              <a:t>台大創創中心自108年起中心秉持以人為本(Human-centric)的核心理念，進行輔導培育(Incubation)、對接整合(Integration)與點火起飛(Ignition)的 HI3 的新定位，結合校內資源、校友網絡、對接企業場域，形成台大創業生態系，透過運營台大車庫及創創加速器協助台大師生、校友創業，提供創業課程、業師輔道、免費空間、投資媒合、社群交流及資源對接，成功孵化300隻以上教授及學生團隊，包含好好投資、PicSee、貝克生醫…等新創團隊，台大創創中心已完成階段目標成為臺灣創業生態圈最具吸引力的校園創業加速器。</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e28e5a211b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e28e5a211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e28e5a211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e28e5a211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r>
              <a:rPr lang="zh-TW" sz="1600">
                <a:solidFill>
                  <a:srgbClr val="222222"/>
                </a:solidFill>
                <a:latin typeface="Heiti TC"/>
                <a:ea typeface="Heiti TC"/>
                <a:cs typeface="Heiti TC"/>
                <a:sym typeface="Heiti TC"/>
              </a:rPr>
              <a:t>輔導培育(Incubation)、對接整合(Integration)與點火起飛(Ignition)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e51dd4596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e51dd4596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e51dd45961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e51dd4596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e28e5a211b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e28e5a211b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886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28e5a211b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e28e5a211b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e28e5a211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e28e5a211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e5210804a9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e5210804a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e5210804a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5210804a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e5210804a9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e5210804a9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260" y="3302175"/>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4560" y="3283539"/>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377455"/>
            <a:ext cx="7136700" cy="1515900"/>
          </a:xfrm>
          <a:prstGeom prst="rect">
            <a:avLst/>
          </a:prstGeom>
        </p:spPr>
        <p:txBody>
          <a:bodyPr spcFirstLastPara="1" wrap="square" lIns="91425" tIns="91425" rIns="91425" bIns="91425" anchor="ctr" anchorCtr="0">
            <a:normAutofit/>
          </a:bodyPr>
          <a:lstStyle>
            <a:lvl1pPr lvl="0" algn="ctr">
              <a:spcBef>
                <a:spcPts val="0"/>
              </a:spcBef>
              <a:spcAft>
                <a:spcPts val="0"/>
              </a:spcAft>
              <a:buClr>
                <a:srgbClr val="222222"/>
              </a:buClr>
              <a:buSzPts val="3900"/>
              <a:buFont typeface="Heiti TC"/>
              <a:buNone/>
              <a:defRPr sz="3900">
                <a:solidFill>
                  <a:srgbClr val="222222"/>
                </a:solidFill>
                <a:latin typeface="Heiti TC"/>
                <a:ea typeface="Heiti TC"/>
                <a:cs typeface="Heiti TC"/>
                <a:sym typeface="Heiti TC"/>
              </a:defRPr>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6750" y="2905877"/>
            <a:ext cx="4870500" cy="7926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Clr>
                <a:schemeClr val="dk2"/>
              </a:buClr>
              <a:buSzPts val="2400"/>
              <a:buNone/>
              <a:defRPr sz="2400">
                <a:solidFill>
                  <a:schemeClr val="dk2"/>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pic>
        <p:nvPicPr>
          <p:cNvPr id="21" name="Google Shape;21;p2"/>
          <p:cNvPicPr preferRelativeResize="0"/>
          <p:nvPr/>
        </p:nvPicPr>
        <p:blipFill rotWithShape="1">
          <a:blip r:embed="rId2">
            <a:alphaModFix/>
          </a:blip>
          <a:srcRect/>
          <a:stretch/>
        </p:blipFill>
        <p:spPr>
          <a:xfrm>
            <a:off x="4092888" y="4392125"/>
            <a:ext cx="958225" cy="600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3"/>
          <p:cNvSpPr/>
          <p:nvPr/>
        </p:nvSpPr>
        <p:spPr>
          <a:xfrm>
            <a:off x="-52800" y="0"/>
            <a:ext cx="92496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title"/>
          </p:nvPr>
        </p:nvSpPr>
        <p:spPr>
          <a:xfrm>
            <a:off x="286350" y="210075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Font typeface="Heiti TC"/>
              <a:buNone/>
              <a:defRPr>
                <a:solidFill>
                  <a:schemeClr val="lt1"/>
                </a:solidFill>
                <a:latin typeface="Heiti TC"/>
                <a:ea typeface="Heiti TC"/>
                <a:cs typeface="Heiti TC"/>
                <a:sym typeface="Heiti TC"/>
              </a:defRPr>
            </a:lvl1pPr>
            <a:lvl2pPr lvl="1" algn="ctr">
              <a:spcBef>
                <a:spcPts val="0"/>
              </a:spcBef>
              <a:spcAft>
                <a:spcPts val="0"/>
              </a:spcAft>
              <a:buSzPts val="3600"/>
              <a:buFont typeface="Heiti TC"/>
              <a:buNone/>
              <a:defRPr>
                <a:latin typeface="Heiti TC"/>
                <a:ea typeface="Heiti TC"/>
                <a:cs typeface="Heiti TC"/>
                <a:sym typeface="Heiti TC"/>
              </a:defRPr>
            </a:lvl2pPr>
            <a:lvl3pPr lvl="2" algn="ctr">
              <a:spcBef>
                <a:spcPts val="0"/>
              </a:spcBef>
              <a:spcAft>
                <a:spcPts val="0"/>
              </a:spcAft>
              <a:buSzPts val="3600"/>
              <a:buFont typeface="Heiti TC"/>
              <a:buNone/>
              <a:defRPr>
                <a:latin typeface="Heiti TC"/>
                <a:ea typeface="Heiti TC"/>
                <a:cs typeface="Heiti TC"/>
                <a:sym typeface="Heiti TC"/>
              </a:defRPr>
            </a:lvl3pPr>
            <a:lvl4pPr lvl="3" algn="ctr">
              <a:spcBef>
                <a:spcPts val="0"/>
              </a:spcBef>
              <a:spcAft>
                <a:spcPts val="0"/>
              </a:spcAft>
              <a:buSzPts val="3600"/>
              <a:buFont typeface="Heiti TC"/>
              <a:buNone/>
              <a:defRPr>
                <a:latin typeface="Heiti TC"/>
                <a:ea typeface="Heiti TC"/>
                <a:cs typeface="Heiti TC"/>
                <a:sym typeface="Heiti TC"/>
              </a:defRPr>
            </a:lvl4pPr>
            <a:lvl5pPr lvl="4" algn="ctr">
              <a:spcBef>
                <a:spcPts val="0"/>
              </a:spcBef>
              <a:spcAft>
                <a:spcPts val="0"/>
              </a:spcAft>
              <a:buSzPts val="3600"/>
              <a:buFont typeface="Heiti TC"/>
              <a:buNone/>
              <a:defRPr>
                <a:latin typeface="Heiti TC"/>
                <a:ea typeface="Heiti TC"/>
                <a:cs typeface="Heiti TC"/>
                <a:sym typeface="Heiti TC"/>
              </a:defRPr>
            </a:lvl5pPr>
            <a:lvl6pPr lvl="5" algn="ctr">
              <a:spcBef>
                <a:spcPts val="0"/>
              </a:spcBef>
              <a:spcAft>
                <a:spcPts val="0"/>
              </a:spcAft>
              <a:buSzPts val="3600"/>
              <a:buFont typeface="Heiti TC"/>
              <a:buNone/>
              <a:defRPr>
                <a:latin typeface="Heiti TC"/>
                <a:ea typeface="Heiti TC"/>
                <a:cs typeface="Heiti TC"/>
                <a:sym typeface="Heiti TC"/>
              </a:defRPr>
            </a:lvl6pPr>
            <a:lvl7pPr lvl="6" algn="ctr">
              <a:spcBef>
                <a:spcPts val="0"/>
              </a:spcBef>
              <a:spcAft>
                <a:spcPts val="0"/>
              </a:spcAft>
              <a:buSzPts val="3600"/>
              <a:buFont typeface="Heiti TC"/>
              <a:buNone/>
              <a:defRPr>
                <a:latin typeface="Heiti TC"/>
                <a:ea typeface="Heiti TC"/>
                <a:cs typeface="Heiti TC"/>
                <a:sym typeface="Heiti TC"/>
              </a:defRPr>
            </a:lvl7pPr>
            <a:lvl8pPr lvl="7" algn="ctr">
              <a:spcBef>
                <a:spcPts val="0"/>
              </a:spcBef>
              <a:spcAft>
                <a:spcPts val="0"/>
              </a:spcAft>
              <a:buSzPts val="3600"/>
              <a:buFont typeface="Heiti TC"/>
              <a:buNone/>
              <a:defRPr>
                <a:latin typeface="Heiti TC"/>
                <a:ea typeface="Heiti TC"/>
                <a:cs typeface="Heiti TC"/>
                <a:sym typeface="Heiti TC"/>
              </a:defRPr>
            </a:lvl8pPr>
            <a:lvl9pPr lvl="8" algn="ctr">
              <a:spcBef>
                <a:spcPts val="0"/>
              </a:spcBef>
              <a:spcAft>
                <a:spcPts val="0"/>
              </a:spcAft>
              <a:buSzPts val="3600"/>
              <a:buFont typeface="Heiti TC"/>
              <a:buNone/>
              <a:defRPr>
                <a:latin typeface="Heiti TC"/>
                <a:ea typeface="Heiti TC"/>
                <a:cs typeface="Heiti TC"/>
                <a:sym typeface="Heiti TC"/>
              </a:defRPr>
            </a:lvl9pPr>
          </a:lstStyle>
          <a:p>
            <a:endParaRPr/>
          </a:p>
        </p:txBody>
      </p:sp>
      <p:sp>
        <p:nvSpPr>
          <p:cNvPr id="25" name="Google Shape;2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區段標題 1">
  <p:cSld name="SECTION_HEADER_1">
    <p:spTree>
      <p:nvGrpSpPr>
        <p:cNvPr id="1" name="Shape 26"/>
        <p:cNvGrpSpPr/>
        <p:nvPr/>
      </p:nvGrpSpPr>
      <p:grpSpPr>
        <a:xfrm>
          <a:off x="0" y="0"/>
          <a:ext cx="0" cy="0"/>
          <a:chOff x="0" y="0"/>
          <a:chExt cx="0" cy="0"/>
        </a:xfrm>
      </p:grpSpPr>
      <p:sp>
        <p:nvSpPr>
          <p:cNvPr id="27" name="Google Shape;27;p4"/>
          <p:cNvSpPr/>
          <p:nvPr/>
        </p:nvSpPr>
        <p:spPr>
          <a:xfrm>
            <a:off x="0" y="0"/>
            <a:ext cx="37761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txBox="1">
            <a:spLocks noGrp="1"/>
          </p:cNvSpPr>
          <p:nvPr>
            <p:ph type="title"/>
          </p:nvPr>
        </p:nvSpPr>
        <p:spPr>
          <a:xfrm>
            <a:off x="75" y="2100750"/>
            <a:ext cx="3776100" cy="9420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3600"/>
              <a:buFont typeface="Heiti TC"/>
              <a:buNone/>
              <a:defRPr>
                <a:solidFill>
                  <a:schemeClr val="lt1"/>
                </a:solidFill>
                <a:latin typeface="Heiti TC"/>
                <a:ea typeface="Heiti TC"/>
                <a:cs typeface="Heiti TC"/>
                <a:sym typeface="Heiti TC"/>
              </a:defRPr>
            </a:lvl1pPr>
            <a:lvl2pPr lvl="1" algn="ctr" rtl="0">
              <a:spcBef>
                <a:spcPts val="0"/>
              </a:spcBef>
              <a:spcAft>
                <a:spcPts val="0"/>
              </a:spcAft>
              <a:buSzPts val="3600"/>
              <a:buFont typeface="Heiti TC"/>
              <a:buNone/>
              <a:defRPr>
                <a:latin typeface="Heiti TC"/>
                <a:ea typeface="Heiti TC"/>
                <a:cs typeface="Heiti TC"/>
                <a:sym typeface="Heiti TC"/>
              </a:defRPr>
            </a:lvl2pPr>
            <a:lvl3pPr lvl="2" algn="ctr" rtl="0">
              <a:spcBef>
                <a:spcPts val="0"/>
              </a:spcBef>
              <a:spcAft>
                <a:spcPts val="0"/>
              </a:spcAft>
              <a:buSzPts val="3600"/>
              <a:buFont typeface="Heiti TC"/>
              <a:buNone/>
              <a:defRPr>
                <a:latin typeface="Heiti TC"/>
                <a:ea typeface="Heiti TC"/>
                <a:cs typeface="Heiti TC"/>
                <a:sym typeface="Heiti TC"/>
              </a:defRPr>
            </a:lvl3pPr>
            <a:lvl4pPr lvl="3" algn="ctr" rtl="0">
              <a:spcBef>
                <a:spcPts val="0"/>
              </a:spcBef>
              <a:spcAft>
                <a:spcPts val="0"/>
              </a:spcAft>
              <a:buSzPts val="3600"/>
              <a:buFont typeface="Heiti TC"/>
              <a:buNone/>
              <a:defRPr>
                <a:latin typeface="Heiti TC"/>
                <a:ea typeface="Heiti TC"/>
                <a:cs typeface="Heiti TC"/>
                <a:sym typeface="Heiti TC"/>
              </a:defRPr>
            </a:lvl4pPr>
            <a:lvl5pPr lvl="4" algn="ctr" rtl="0">
              <a:spcBef>
                <a:spcPts val="0"/>
              </a:spcBef>
              <a:spcAft>
                <a:spcPts val="0"/>
              </a:spcAft>
              <a:buSzPts val="3600"/>
              <a:buFont typeface="Heiti TC"/>
              <a:buNone/>
              <a:defRPr>
                <a:latin typeface="Heiti TC"/>
                <a:ea typeface="Heiti TC"/>
                <a:cs typeface="Heiti TC"/>
                <a:sym typeface="Heiti TC"/>
              </a:defRPr>
            </a:lvl5pPr>
            <a:lvl6pPr lvl="5" algn="ctr" rtl="0">
              <a:spcBef>
                <a:spcPts val="0"/>
              </a:spcBef>
              <a:spcAft>
                <a:spcPts val="0"/>
              </a:spcAft>
              <a:buSzPts val="3600"/>
              <a:buFont typeface="Heiti TC"/>
              <a:buNone/>
              <a:defRPr>
                <a:latin typeface="Heiti TC"/>
                <a:ea typeface="Heiti TC"/>
                <a:cs typeface="Heiti TC"/>
                <a:sym typeface="Heiti TC"/>
              </a:defRPr>
            </a:lvl6pPr>
            <a:lvl7pPr lvl="6" algn="ctr" rtl="0">
              <a:spcBef>
                <a:spcPts val="0"/>
              </a:spcBef>
              <a:spcAft>
                <a:spcPts val="0"/>
              </a:spcAft>
              <a:buSzPts val="3600"/>
              <a:buFont typeface="Heiti TC"/>
              <a:buNone/>
              <a:defRPr>
                <a:latin typeface="Heiti TC"/>
                <a:ea typeface="Heiti TC"/>
                <a:cs typeface="Heiti TC"/>
                <a:sym typeface="Heiti TC"/>
              </a:defRPr>
            </a:lvl7pPr>
            <a:lvl8pPr lvl="7" algn="ctr" rtl="0">
              <a:spcBef>
                <a:spcPts val="0"/>
              </a:spcBef>
              <a:spcAft>
                <a:spcPts val="0"/>
              </a:spcAft>
              <a:buSzPts val="3600"/>
              <a:buFont typeface="Heiti TC"/>
              <a:buNone/>
              <a:defRPr>
                <a:latin typeface="Heiti TC"/>
                <a:ea typeface="Heiti TC"/>
                <a:cs typeface="Heiti TC"/>
                <a:sym typeface="Heiti TC"/>
              </a:defRPr>
            </a:lvl8pPr>
            <a:lvl9pPr lvl="8" algn="ctr" rtl="0">
              <a:spcBef>
                <a:spcPts val="0"/>
              </a:spcBef>
              <a:spcAft>
                <a:spcPts val="0"/>
              </a:spcAft>
              <a:buSzPts val="3600"/>
              <a:buFont typeface="Heiti TC"/>
              <a:buNone/>
              <a:defRPr>
                <a:latin typeface="Heiti TC"/>
                <a:ea typeface="Heiti TC"/>
                <a:cs typeface="Heiti TC"/>
                <a:sym typeface="Heiti TC"/>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
        <p:nvSpPr>
          <p:cNvPr id="30" name="Google Shape;30;p4"/>
          <p:cNvSpPr txBox="1">
            <a:spLocks noGrp="1"/>
          </p:cNvSpPr>
          <p:nvPr>
            <p:ph type="body" idx="1"/>
          </p:nvPr>
        </p:nvSpPr>
        <p:spPr>
          <a:xfrm>
            <a:off x="4133175" y="675300"/>
            <a:ext cx="4699200" cy="3792900"/>
          </a:xfrm>
          <a:prstGeom prst="rect">
            <a:avLst/>
          </a:prstGeom>
        </p:spPr>
        <p:txBody>
          <a:bodyPr spcFirstLastPara="1" wrap="square" lIns="91425" tIns="91425" rIns="91425" bIns="91425" anchor="t" anchorCtr="0">
            <a:normAutofit/>
          </a:bodyPr>
          <a:lstStyle>
            <a:lvl1pPr marL="457200" lvl="0" indent="-381000" rtl="0">
              <a:spcBef>
                <a:spcPts val="0"/>
              </a:spcBef>
              <a:spcAft>
                <a:spcPts val="0"/>
              </a:spcAft>
              <a:buClr>
                <a:srgbClr val="222222"/>
              </a:buClr>
              <a:buSzPts val="2400"/>
              <a:buFont typeface="Heiti TC"/>
              <a:buChar char="●"/>
              <a:defRPr sz="2400">
                <a:solidFill>
                  <a:srgbClr val="222222"/>
                </a:solidFill>
                <a:latin typeface="Heiti TC"/>
                <a:ea typeface="Heiti TC"/>
                <a:cs typeface="Heiti TC"/>
                <a:sym typeface="Heiti TC"/>
              </a:defRPr>
            </a:lvl1pPr>
            <a:lvl2pPr marL="914400" lvl="1"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2pPr>
            <a:lvl3pPr marL="1371600" lvl="2"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3pPr>
            <a:lvl4pPr marL="1828800" lvl="3"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4pPr>
            <a:lvl5pPr marL="2286000" lvl="4"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5pPr>
            <a:lvl6pPr marL="2743200" lvl="5"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6pPr>
            <a:lvl7pPr marL="3200400" lvl="6"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7pPr>
            <a:lvl8pPr marL="3657600" lvl="7"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8pPr>
            <a:lvl9pPr marL="4114800" lvl="8"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區段標題 1 1">
  <p:cSld name="SECTION_HEADER_1_1">
    <p:spTree>
      <p:nvGrpSpPr>
        <p:cNvPr id="1" name="Shape 31"/>
        <p:cNvGrpSpPr/>
        <p:nvPr/>
      </p:nvGrpSpPr>
      <p:grpSpPr>
        <a:xfrm>
          <a:off x="0" y="0"/>
          <a:ext cx="0" cy="0"/>
          <a:chOff x="0" y="0"/>
          <a:chExt cx="0" cy="0"/>
        </a:xfrm>
      </p:grpSpPr>
      <p:sp>
        <p:nvSpPr>
          <p:cNvPr id="32" name="Google Shape;32;p5"/>
          <p:cNvSpPr/>
          <p:nvPr/>
        </p:nvSpPr>
        <p:spPr>
          <a:xfrm>
            <a:off x="5367900" y="0"/>
            <a:ext cx="37761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5"/>
          <p:cNvSpPr txBox="1">
            <a:spLocks noGrp="1"/>
          </p:cNvSpPr>
          <p:nvPr>
            <p:ph type="title"/>
          </p:nvPr>
        </p:nvSpPr>
        <p:spPr>
          <a:xfrm>
            <a:off x="75" y="2100750"/>
            <a:ext cx="3776100" cy="9420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3600"/>
              <a:buFont typeface="Heiti TC"/>
              <a:buNone/>
              <a:defRPr>
                <a:solidFill>
                  <a:schemeClr val="lt1"/>
                </a:solidFill>
                <a:latin typeface="Heiti TC"/>
                <a:ea typeface="Heiti TC"/>
                <a:cs typeface="Heiti TC"/>
                <a:sym typeface="Heiti TC"/>
              </a:defRPr>
            </a:lvl1pPr>
            <a:lvl2pPr lvl="1" algn="ctr" rtl="0">
              <a:spcBef>
                <a:spcPts val="0"/>
              </a:spcBef>
              <a:spcAft>
                <a:spcPts val="0"/>
              </a:spcAft>
              <a:buSzPts val="3600"/>
              <a:buFont typeface="Heiti TC"/>
              <a:buNone/>
              <a:defRPr>
                <a:latin typeface="Heiti TC"/>
                <a:ea typeface="Heiti TC"/>
                <a:cs typeface="Heiti TC"/>
                <a:sym typeface="Heiti TC"/>
              </a:defRPr>
            </a:lvl2pPr>
            <a:lvl3pPr lvl="2" algn="ctr" rtl="0">
              <a:spcBef>
                <a:spcPts val="0"/>
              </a:spcBef>
              <a:spcAft>
                <a:spcPts val="0"/>
              </a:spcAft>
              <a:buSzPts val="3600"/>
              <a:buFont typeface="Heiti TC"/>
              <a:buNone/>
              <a:defRPr>
                <a:latin typeface="Heiti TC"/>
                <a:ea typeface="Heiti TC"/>
                <a:cs typeface="Heiti TC"/>
                <a:sym typeface="Heiti TC"/>
              </a:defRPr>
            </a:lvl3pPr>
            <a:lvl4pPr lvl="3" algn="ctr" rtl="0">
              <a:spcBef>
                <a:spcPts val="0"/>
              </a:spcBef>
              <a:spcAft>
                <a:spcPts val="0"/>
              </a:spcAft>
              <a:buSzPts val="3600"/>
              <a:buFont typeface="Heiti TC"/>
              <a:buNone/>
              <a:defRPr>
                <a:latin typeface="Heiti TC"/>
                <a:ea typeface="Heiti TC"/>
                <a:cs typeface="Heiti TC"/>
                <a:sym typeface="Heiti TC"/>
              </a:defRPr>
            </a:lvl4pPr>
            <a:lvl5pPr lvl="4" algn="ctr" rtl="0">
              <a:spcBef>
                <a:spcPts val="0"/>
              </a:spcBef>
              <a:spcAft>
                <a:spcPts val="0"/>
              </a:spcAft>
              <a:buSzPts val="3600"/>
              <a:buFont typeface="Heiti TC"/>
              <a:buNone/>
              <a:defRPr>
                <a:latin typeface="Heiti TC"/>
                <a:ea typeface="Heiti TC"/>
                <a:cs typeface="Heiti TC"/>
                <a:sym typeface="Heiti TC"/>
              </a:defRPr>
            </a:lvl5pPr>
            <a:lvl6pPr lvl="5" algn="ctr" rtl="0">
              <a:spcBef>
                <a:spcPts val="0"/>
              </a:spcBef>
              <a:spcAft>
                <a:spcPts val="0"/>
              </a:spcAft>
              <a:buSzPts val="3600"/>
              <a:buFont typeface="Heiti TC"/>
              <a:buNone/>
              <a:defRPr>
                <a:latin typeface="Heiti TC"/>
                <a:ea typeface="Heiti TC"/>
                <a:cs typeface="Heiti TC"/>
                <a:sym typeface="Heiti TC"/>
              </a:defRPr>
            </a:lvl6pPr>
            <a:lvl7pPr lvl="6" algn="ctr" rtl="0">
              <a:spcBef>
                <a:spcPts val="0"/>
              </a:spcBef>
              <a:spcAft>
                <a:spcPts val="0"/>
              </a:spcAft>
              <a:buSzPts val="3600"/>
              <a:buFont typeface="Heiti TC"/>
              <a:buNone/>
              <a:defRPr>
                <a:latin typeface="Heiti TC"/>
                <a:ea typeface="Heiti TC"/>
                <a:cs typeface="Heiti TC"/>
                <a:sym typeface="Heiti TC"/>
              </a:defRPr>
            </a:lvl7pPr>
            <a:lvl8pPr lvl="7" algn="ctr" rtl="0">
              <a:spcBef>
                <a:spcPts val="0"/>
              </a:spcBef>
              <a:spcAft>
                <a:spcPts val="0"/>
              </a:spcAft>
              <a:buSzPts val="3600"/>
              <a:buFont typeface="Heiti TC"/>
              <a:buNone/>
              <a:defRPr>
                <a:latin typeface="Heiti TC"/>
                <a:ea typeface="Heiti TC"/>
                <a:cs typeface="Heiti TC"/>
                <a:sym typeface="Heiti TC"/>
              </a:defRPr>
            </a:lvl8pPr>
            <a:lvl9pPr lvl="8" algn="ctr" rtl="0">
              <a:spcBef>
                <a:spcPts val="0"/>
              </a:spcBef>
              <a:spcAft>
                <a:spcPts val="0"/>
              </a:spcAft>
              <a:buSzPts val="3600"/>
              <a:buFont typeface="Heiti TC"/>
              <a:buNone/>
              <a:defRPr>
                <a:latin typeface="Heiti TC"/>
                <a:ea typeface="Heiti TC"/>
                <a:cs typeface="Heiti TC"/>
                <a:sym typeface="Heiti TC"/>
              </a:defRPr>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
        <p:nvSpPr>
          <p:cNvPr id="35" name="Google Shape;35;p5"/>
          <p:cNvSpPr txBox="1">
            <a:spLocks noGrp="1"/>
          </p:cNvSpPr>
          <p:nvPr>
            <p:ph type="body" idx="1"/>
          </p:nvPr>
        </p:nvSpPr>
        <p:spPr>
          <a:xfrm>
            <a:off x="365975" y="675300"/>
            <a:ext cx="4699200" cy="3792900"/>
          </a:xfrm>
          <a:prstGeom prst="rect">
            <a:avLst/>
          </a:prstGeom>
        </p:spPr>
        <p:txBody>
          <a:bodyPr spcFirstLastPara="1" wrap="square" lIns="91425" tIns="91425" rIns="91425" bIns="91425" anchor="t" anchorCtr="0">
            <a:normAutofit/>
          </a:bodyPr>
          <a:lstStyle>
            <a:lvl1pPr marL="457200" lvl="0" indent="-381000" rtl="0">
              <a:spcBef>
                <a:spcPts val="0"/>
              </a:spcBef>
              <a:spcAft>
                <a:spcPts val="0"/>
              </a:spcAft>
              <a:buClr>
                <a:srgbClr val="222222"/>
              </a:buClr>
              <a:buSzPts val="2400"/>
              <a:buFont typeface="Heiti TC"/>
              <a:buChar char="●"/>
              <a:defRPr sz="2400">
                <a:solidFill>
                  <a:srgbClr val="222222"/>
                </a:solidFill>
                <a:latin typeface="Heiti TC"/>
                <a:ea typeface="Heiti TC"/>
                <a:cs typeface="Heiti TC"/>
                <a:sym typeface="Heiti TC"/>
              </a:defRPr>
            </a:lvl1pPr>
            <a:lvl2pPr marL="914400" lvl="1"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2pPr>
            <a:lvl3pPr marL="1371600" lvl="2"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3pPr>
            <a:lvl4pPr marL="1828800" lvl="3"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4pPr>
            <a:lvl5pPr marL="2286000" lvl="4"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5pPr>
            <a:lvl6pPr marL="2743200" lvl="5"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6pPr>
            <a:lvl7pPr marL="3200400" lvl="6"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7pPr>
            <a:lvl8pPr marL="3657600" lvl="7"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8pPr>
            <a:lvl9pPr marL="4114800" lvl="8" indent="-355600" rtl="0">
              <a:spcBef>
                <a:spcPts val="0"/>
              </a:spcBef>
              <a:spcAft>
                <a:spcPts val="0"/>
              </a:spcAft>
              <a:buClr>
                <a:srgbClr val="222222"/>
              </a:buClr>
              <a:buSzPts val="2000"/>
              <a:buFont typeface="Heiti TC"/>
              <a:buChar char="■"/>
              <a:defRPr sz="2000">
                <a:solidFill>
                  <a:srgbClr val="222222"/>
                </a:solidFill>
                <a:latin typeface="Heiti TC"/>
                <a:ea typeface="Heiti TC"/>
                <a:cs typeface="Heiti TC"/>
                <a:sym typeface="Heiti TC"/>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6"/>
        <p:cNvGrpSpPr/>
        <p:nvPr/>
      </p:nvGrpSpPr>
      <p:grpSpPr>
        <a:xfrm>
          <a:off x="0" y="0"/>
          <a:ext cx="0" cy="0"/>
          <a:chOff x="0" y="0"/>
          <a:chExt cx="0" cy="0"/>
        </a:xfrm>
      </p:grpSpPr>
      <p:sp>
        <p:nvSpPr>
          <p:cNvPr id="37" name="Google Shape;37;p6"/>
          <p:cNvSpPr/>
          <p:nvPr/>
        </p:nvSpPr>
        <p:spPr>
          <a:xfrm>
            <a:off x="-26700" y="5056825"/>
            <a:ext cx="91974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6"/>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rmAutofit/>
          </a:bodyPr>
          <a:lstStyle>
            <a:lvl1pPr lvl="0">
              <a:spcBef>
                <a:spcPts val="0"/>
              </a:spcBef>
              <a:spcAft>
                <a:spcPts val="0"/>
              </a:spcAft>
              <a:buClr>
                <a:srgbClr val="007F7D"/>
              </a:buClr>
              <a:buSzPts val="3400"/>
              <a:buFont typeface="Heiti TC"/>
              <a:buNone/>
              <a:defRPr sz="3400">
                <a:solidFill>
                  <a:srgbClr val="007F7D"/>
                </a:solidFill>
                <a:latin typeface="Heiti TC"/>
                <a:ea typeface="Heiti TC"/>
                <a:cs typeface="Heiti TC"/>
                <a:sym typeface="Heiti TC"/>
              </a:defRPr>
            </a:lvl1pPr>
            <a:lvl2pPr lvl="1">
              <a:spcBef>
                <a:spcPts val="0"/>
              </a:spcBef>
              <a:spcAft>
                <a:spcPts val="0"/>
              </a:spcAft>
              <a:buSzPts val="3600"/>
              <a:buFont typeface="Heiti TC"/>
              <a:buNone/>
              <a:defRPr>
                <a:latin typeface="Heiti TC"/>
                <a:ea typeface="Heiti TC"/>
                <a:cs typeface="Heiti TC"/>
                <a:sym typeface="Heiti TC"/>
              </a:defRPr>
            </a:lvl2pPr>
            <a:lvl3pPr lvl="2">
              <a:spcBef>
                <a:spcPts val="0"/>
              </a:spcBef>
              <a:spcAft>
                <a:spcPts val="0"/>
              </a:spcAft>
              <a:buSzPts val="3600"/>
              <a:buFont typeface="Heiti TC"/>
              <a:buNone/>
              <a:defRPr>
                <a:latin typeface="Heiti TC"/>
                <a:ea typeface="Heiti TC"/>
                <a:cs typeface="Heiti TC"/>
                <a:sym typeface="Heiti TC"/>
              </a:defRPr>
            </a:lvl3pPr>
            <a:lvl4pPr lvl="3">
              <a:spcBef>
                <a:spcPts val="0"/>
              </a:spcBef>
              <a:spcAft>
                <a:spcPts val="0"/>
              </a:spcAft>
              <a:buSzPts val="3600"/>
              <a:buFont typeface="Heiti TC"/>
              <a:buNone/>
              <a:defRPr>
                <a:latin typeface="Heiti TC"/>
                <a:ea typeface="Heiti TC"/>
                <a:cs typeface="Heiti TC"/>
                <a:sym typeface="Heiti TC"/>
              </a:defRPr>
            </a:lvl4pPr>
            <a:lvl5pPr lvl="4">
              <a:spcBef>
                <a:spcPts val="0"/>
              </a:spcBef>
              <a:spcAft>
                <a:spcPts val="0"/>
              </a:spcAft>
              <a:buSzPts val="3600"/>
              <a:buFont typeface="Heiti TC"/>
              <a:buNone/>
              <a:defRPr>
                <a:latin typeface="Heiti TC"/>
                <a:ea typeface="Heiti TC"/>
                <a:cs typeface="Heiti TC"/>
                <a:sym typeface="Heiti TC"/>
              </a:defRPr>
            </a:lvl5pPr>
            <a:lvl6pPr lvl="5">
              <a:spcBef>
                <a:spcPts val="0"/>
              </a:spcBef>
              <a:spcAft>
                <a:spcPts val="0"/>
              </a:spcAft>
              <a:buSzPts val="3600"/>
              <a:buFont typeface="Heiti TC"/>
              <a:buNone/>
              <a:defRPr>
                <a:latin typeface="Heiti TC"/>
                <a:ea typeface="Heiti TC"/>
                <a:cs typeface="Heiti TC"/>
                <a:sym typeface="Heiti TC"/>
              </a:defRPr>
            </a:lvl6pPr>
            <a:lvl7pPr lvl="6">
              <a:spcBef>
                <a:spcPts val="0"/>
              </a:spcBef>
              <a:spcAft>
                <a:spcPts val="0"/>
              </a:spcAft>
              <a:buSzPts val="3600"/>
              <a:buFont typeface="Heiti TC"/>
              <a:buNone/>
              <a:defRPr>
                <a:latin typeface="Heiti TC"/>
                <a:ea typeface="Heiti TC"/>
                <a:cs typeface="Heiti TC"/>
                <a:sym typeface="Heiti TC"/>
              </a:defRPr>
            </a:lvl7pPr>
            <a:lvl8pPr lvl="7">
              <a:spcBef>
                <a:spcPts val="0"/>
              </a:spcBef>
              <a:spcAft>
                <a:spcPts val="0"/>
              </a:spcAft>
              <a:buSzPts val="3600"/>
              <a:buFont typeface="Heiti TC"/>
              <a:buNone/>
              <a:defRPr>
                <a:latin typeface="Heiti TC"/>
                <a:ea typeface="Heiti TC"/>
                <a:cs typeface="Heiti TC"/>
                <a:sym typeface="Heiti TC"/>
              </a:defRPr>
            </a:lvl8pPr>
            <a:lvl9pPr lvl="8">
              <a:spcBef>
                <a:spcPts val="0"/>
              </a:spcBef>
              <a:spcAft>
                <a:spcPts val="0"/>
              </a:spcAft>
              <a:buSzPts val="3600"/>
              <a:buFont typeface="Heiti TC"/>
              <a:buNone/>
              <a:defRPr>
                <a:latin typeface="Heiti TC"/>
                <a:ea typeface="Heiti TC"/>
                <a:cs typeface="Heiti TC"/>
                <a:sym typeface="Heiti TC"/>
              </a:defRPr>
            </a:lvl9pPr>
          </a:lstStyle>
          <a:p>
            <a:endParaRPr/>
          </a:p>
        </p:txBody>
      </p:sp>
      <p:sp>
        <p:nvSpPr>
          <p:cNvPr id="39" name="Google Shape;3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pic>
        <p:nvPicPr>
          <p:cNvPr id="40" name="Google Shape;40;p6"/>
          <p:cNvPicPr preferRelativeResize="0"/>
          <p:nvPr/>
        </p:nvPicPr>
        <p:blipFill rotWithShape="1">
          <a:blip r:embed="rId2">
            <a:alphaModFix/>
          </a:blip>
          <a:srcRect/>
          <a:stretch/>
        </p:blipFill>
        <p:spPr>
          <a:xfrm>
            <a:off x="311700" y="445026"/>
            <a:ext cx="1311102" cy="821300"/>
          </a:xfrm>
          <a:prstGeom prst="rect">
            <a:avLst/>
          </a:prstGeom>
          <a:noFill/>
          <a:ln>
            <a:noFill/>
          </a:ln>
        </p:spPr>
      </p:pic>
      <p:sp>
        <p:nvSpPr>
          <p:cNvPr id="41" name="Google Shape;41;p6"/>
          <p:cNvSpPr txBox="1">
            <a:spLocks noGrp="1"/>
          </p:cNvSpPr>
          <p:nvPr>
            <p:ph type="body" idx="1"/>
          </p:nvPr>
        </p:nvSpPr>
        <p:spPr>
          <a:xfrm>
            <a:off x="311700" y="1386775"/>
            <a:ext cx="8520600" cy="3156000"/>
          </a:xfrm>
          <a:prstGeom prst="rect">
            <a:avLst/>
          </a:prstGeom>
        </p:spPr>
        <p:txBody>
          <a:bodyPr spcFirstLastPara="1" wrap="square" lIns="91425" tIns="91425" rIns="91425" bIns="91425" anchor="t" anchorCtr="0">
            <a:normAutofit/>
          </a:bodyPr>
          <a:lstStyle>
            <a:lvl1pPr marL="457200" lvl="0" indent="-368300" rtl="0">
              <a:spcBef>
                <a:spcPts val="0"/>
              </a:spcBef>
              <a:spcAft>
                <a:spcPts val="0"/>
              </a:spcAft>
              <a:buClr>
                <a:srgbClr val="222222"/>
              </a:buClr>
              <a:buSzPts val="2200"/>
              <a:buFont typeface="Heiti TC"/>
              <a:buChar char="●"/>
              <a:defRPr sz="2200">
                <a:solidFill>
                  <a:srgbClr val="222222"/>
                </a:solidFill>
                <a:latin typeface="Heiti TC"/>
                <a:ea typeface="Heiti TC"/>
                <a:cs typeface="Heiti TC"/>
                <a:sym typeface="Heiti TC"/>
              </a:defRPr>
            </a:lvl1pPr>
            <a:lvl2pPr marL="914400" lvl="1"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2pPr>
            <a:lvl3pPr marL="1371600" lvl="2"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3pPr>
            <a:lvl4pPr marL="1828800" lvl="3"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4pPr>
            <a:lvl5pPr marL="2286000" lvl="4"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5pPr>
            <a:lvl6pPr marL="2743200" lvl="5"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6pPr>
            <a:lvl7pPr marL="3200400" lvl="6"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7pPr>
            <a:lvl8pPr marL="3657600" lvl="7"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8pPr>
            <a:lvl9pPr marL="4114800" lvl="8"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2"/>
        <p:cNvGrpSpPr/>
        <p:nvPr/>
      </p:nvGrpSpPr>
      <p:grpSpPr>
        <a:xfrm>
          <a:off x="0" y="0"/>
          <a:ext cx="0" cy="0"/>
          <a:chOff x="0" y="0"/>
          <a:chExt cx="0" cy="0"/>
        </a:xfrm>
      </p:grpSpPr>
      <p:sp>
        <p:nvSpPr>
          <p:cNvPr id="43" name="Google Shape;43;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
        <p:nvSpPr>
          <p:cNvPr id="44" name="Google Shape;44;p7"/>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rmAutofit/>
          </a:bodyPr>
          <a:lstStyle>
            <a:lvl1pPr lvl="0" rtl="0">
              <a:spcBef>
                <a:spcPts val="0"/>
              </a:spcBef>
              <a:spcAft>
                <a:spcPts val="0"/>
              </a:spcAft>
              <a:buClr>
                <a:srgbClr val="007F7D"/>
              </a:buClr>
              <a:buSzPts val="3400"/>
              <a:buFont typeface="Heiti TC"/>
              <a:buNone/>
              <a:defRPr sz="3400">
                <a:solidFill>
                  <a:srgbClr val="007F7D"/>
                </a:solidFill>
                <a:latin typeface="Heiti TC"/>
                <a:ea typeface="Heiti TC"/>
                <a:cs typeface="Heiti TC"/>
                <a:sym typeface="Heiti TC"/>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pic>
        <p:nvPicPr>
          <p:cNvPr id="45" name="Google Shape;45;p7"/>
          <p:cNvPicPr preferRelativeResize="0"/>
          <p:nvPr/>
        </p:nvPicPr>
        <p:blipFill rotWithShape="1">
          <a:blip r:embed="rId2">
            <a:alphaModFix/>
          </a:blip>
          <a:srcRect/>
          <a:stretch/>
        </p:blipFill>
        <p:spPr>
          <a:xfrm>
            <a:off x="311700" y="445026"/>
            <a:ext cx="1311102" cy="821300"/>
          </a:xfrm>
          <a:prstGeom prst="rect">
            <a:avLst/>
          </a:prstGeom>
          <a:noFill/>
          <a:ln>
            <a:noFill/>
          </a:ln>
        </p:spPr>
      </p:pic>
      <p:sp>
        <p:nvSpPr>
          <p:cNvPr id="46" name="Google Shape;46;p7"/>
          <p:cNvSpPr/>
          <p:nvPr/>
        </p:nvSpPr>
        <p:spPr>
          <a:xfrm>
            <a:off x="-26700" y="5056825"/>
            <a:ext cx="91974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7"/>
          <p:cNvSpPr txBox="1">
            <a:spLocks noGrp="1"/>
          </p:cNvSpPr>
          <p:nvPr>
            <p:ph type="body" idx="1"/>
          </p:nvPr>
        </p:nvSpPr>
        <p:spPr>
          <a:xfrm>
            <a:off x="311700" y="1386775"/>
            <a:ext cx="4172400" cy="3156000"/>
          </a:xfrm>
          <a:prstGeom prst="rect">
            <a:avLst/>
          </a:prstGeom>
        </p:spPr>
        <p:txBody>
          <a:bodyPr spcFirstLastPara="1" wrap="square" lIns="91425" tIns="91425" rIns="91425" bIns="91425" anchor="t" anchorCtr="0">
            <a:normAutofit/>
          </a:bodyPr>
          <a:lstStyle>
            <a:lvl1pPr marL="457200" lvl="0" indent="-368300" rtl="0">
              <a:spcBef>
                <a:spcPts val="0"/>
              </a:spcBef>
              <a:spcAft>
                <a:spcPts val="0"/>
              </a:spcAft>
              <a:buClr>
                <a:srgbClr val="222222"/>
              </a:buClr>
              <a:buSzPts val="2200"/>
              <a:buFont typeface="Heiti TC"/>
              <a:buChar char="●"/>
              <a:defRPr sz="2200">
                <a:solidFill>
                  <a:srgbClr val="222222"/>
                </a:solidFill>
                <a:latin typeface="Heiti TC"/>
                <a:ea typeface="Heiti TC"/>
                <a:cs typeface="Heiti TC"/>
                <a:sym typeface="Heiti TC"/>
              </a:defRPr>
            </a:lvl1pPr>
            <a:lvl2pPr marL="914400" lvl="1"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2pPr>
            <a:lvl3pPr marL="1371600" lvl="2"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3pPr>
            <a:lvl4pPr marL="1828800" lvl="3"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4pPr>
            <a:lvl5pPr marL="2286000" lvl="4"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5pPr>
            <a:lvl6pPr marL="2743200" lvl="5"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6pPr>
            <a:lvl7pPr marL="3200400" lvl="6"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7pPr>
            <a:lvl8pPr marL="3657600" lvl="7"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8pPr>
            <a:lvl9pPr marL="4114800" lvl="8"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9pPr>
          </a:lstStyle>
          <a:p>
            <a:endParaRPr/>
          </a:p>
        </p:txBody>
      </p:sp>
      <p:sp>
        <p:nvSpPr>
          <p:cNvPr id="48" name="Google Shape;48;p7"/>
          <p:cNvSpPr txBox="1">
            <a:spLocks noGrp="1"/>
          </p:cNvSpPr>
          <p:nvPr>
            <p:ph type="body" idx="2"/>
          </p:nvPr>
        </p:nvSpPr>
        <p:spPr>
          <a:xfrm>
            <a:off x="4660000" y="1386775"/>
            <a:ext cx="4172400" cy="3156000"/>
          </a:xfrm>
          <a:prstGeom prst="rect">
            <a:avLst/>
          </a:prstGeom>
        </p:spPr>
        <p:txBody>
          <a:bodyPr spcFirstLastPara="1" wrap="square" lIns="91425" tIns="91425" rIns="91425" bIns="91425" anchor="t" anchorCtr="0">
            <a:normAutofit/>
          </a:bodyPr>
          <a:lstStyle>
            <a:lvl1pPr marL="457200" lvl="0" indent="-368300" rtl="0">
              <a:spcBef>
                <a:spcPts val="0"/>
              </a:spcBef>
              <a:spcAft>
                <a:spcPts val="0"/>
              </a:spcAft>
              <a:buClr>
                <a:srgbClr val="222222"/>
              </a:buClr>
              <a:buSzPts val="2200"/>
              <a:buFont typeface="Heiti TC"/>
              <a:buChar char="●"/>
              <a:defRPr sz="2200">
                <a:solidFill>
                  <a:srgbClr val="222222"/>
                </a:solidFill>
                <a:latin typeface="Heiti TC"/>
                <a:ea typeface="Heiti TC"/>
                <a:cs typeface="Heiti TC"/>
                <a:sym typeface="Heiti TC"/>
              </a:defRPr>
            </a:lvl1pPr>
            <a:lvl2pPr marL="914400" lvl="1"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2pPr>
            <a:lvl3pPr marL="1371600" lvl="2"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3pPr>
            <a:lvl4pPr marL="1828800" lvl="3"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4pPr>
            <a:lvl5pPr marL="2286000" lvl="4"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5pPr>
            <a:lvl6pPr marL="2743200" lvl="5"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6pPr>
            <a:lvl7pPr marL="3200400" lvl="6"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7pPr>
            <a:lvl8pPr marL="3657600" lvl="7"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8pPr>
            <a:lvl9pPr marL="4114800" lvl="8"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
        <p:nvSpPr>
          <p:cNvPr id="51" name="Google Shape;51;p8"/>
          <p:cNvSpPr txBox="1">
            <a:spLocks noGrp="1"/>
          </p:cNvSpPr>
          <p:nvPr>
            <p:ph type="title"/>
          </p:nvPr>
        </p:nvSpPr>
        <p:spPr>
          <a:xfrm>
            <a:off x="306150" y="501975"/>
            <a:ext cx="8531700" cy="7074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007F7D"/>
              </a:buClr>
              <a:buSzPts val="3400"/>
              <a:buFont typeface="Heiti TC"/>
              <a:buNone/>
              <a:defRPr sz="3400">
                <a:solidFill>
                  <a:srgbClr val="007F7D"/>
                </a:solidFill>
                <a:latin typeface="Heiti TC"/>
                <a:ea typeface="Heiti TC"/>
                <a:cs typeface="Heiti TC"/>
                <a:sym typeface="Heiti TC"/>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2" name="Google Shape;52;p8"/>
          <p:cNvSpPr/>
          <p:nvPr/>
        </p:nvSpPr>
        <p:spPr>
          <a:xfrm>
            <a:off x="-26700" y="5056825"/>
            <a:ext cx="91974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txBox="1">
            <a:spLocks noGrp="1"/>
          </p:cNvSpPr>
          <p:nvPr>
            <p:ph type="body" idx="1"/>
          </p:nvPr>
        </p:nvSpPr>
        <p:spPr>
          <a:xfrm>
            <a:off x="311700" y="1386775"/>
            <a:ext cx="8520600" cy="3156000"/>
          </a:xfrm>
          <a:prstGeom prst="rect">
            <a:avLst/>
          </a:prstGeom>
        </p:spPr>
        <p:txBody>
          <a:bodyPr spcFirstLastPara="1" wrap="square" lIns="91425" tIns="91425" rIns="91425" bIns="91425" anchor="t" anchorCtr="0">
            <a:normAutofit/>
          </a:bodyPr>
          <a:lstStyle>
            <a:lvl1pPr marL="457200" lvl="0" indent="-368300" rtl="0">
              <a:spcBef>
                <a:spcPts val="0"/>
              </a:spcBef>
              <a:spcAft>
                <a:spcPts val="0"/>
              </a:spcAft>
              <a:buClr>
                <a:srgbClr val="222222"/>
              </a:buClr>
              <a:buSzPts val="2200"/>
              <a:buFont typeface="Heiti TC"/>
              <a:buChar char="●"/>
              <a:defRPr sz="2200">
                <a:solidFill>
                  <a:srgbClr val="222222"/>
                </a:solidFill>
                <a:latin typeface="Heiti TC"/>
                <a:ea typeface="Heiti TC"/>
                <a:cs typeface="Heiti TC"/>
                <a:sym typeface="Heiti TC"/>
              </a:defRPr>
            </a:lvl1pPr>
            <a:lvl2pPr marL="914400" lvl="1"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2pPr>
            <a:lvl3pPr marL="1371600" lvl="2"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3pPr>
            <a:lvl4pPr marL="1828800" lvl="3"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4pPr>
            <a:lvl5pPr marL="2286000" lvl="4"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5pPr>
            <a:lvl6pPr marL="2743200" lvl="5"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6pPr>
            <a:lvl7pPr marL="3200400" lvl="6"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7pPr>
            <a:lvl8pPr marL="3657600" lvl="7"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8pPr>
            <a:lvl9pPr marL="4114800" lvl="8" indent="-342900" rtl="0">
              <a:spcBef>
                <a:spcPts val="0"/>
              </a:spcBef>
              <a:spcAft>
                <a:spcPts val="0"/>
              </a:spcAft>
              <a:buClr>
                <a:srgbClr val="222222"/>
              </a:buClr>
              <a:buSzPts val="1800"/>
              <a:buFont typeface="Heiti TC"/>
              <a:buChar char="■"/>
              <a:defRPr sz="1800">
                <a:solidFill>
                  <a:srgbClr val="222222"/>
                </a:solidFill>
                <a:latin typeface="Heiti TC"/>
                <a:ea typeface="Heiti TC"/>
                <a:cs typeface="Heiti TC"/>
                <a:sym typeface="Heiti TC"/>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只有標題 1">
  <p:cSld name="TITLE_ONLY_1">
    <p:spTree>
      <p:nvGrpSpPr>
        <p:cNvPr id="1" name="Shape 54"/>
        <p:cNvGrpSpPr/>
        <p:nvPr/>
      </p:nvGrpSpPr>
      <p:grpSpPr>
        <a:xfrm>
          <a:off x="0" y="0"/>
          <a:ext cx="0" cy="0"/>
          <a:chOff x="0" y="0"/>
          <a:chExt cx="0" cy="0"/>
        </a:xfrm>
      </p:grpSpPr>
      <p:sp>
        <p:nvSpPr>
          <p:cNvPr id="55" name="Google Shape;5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
        <p:nvSpPr>
          <p:cNvPr id="56" name="Google Shape;56;p9"/>
          <p:cNvSpPr txBox="1">
            <a:spLocks noGrp="1"/>
          </p:cNvSpPr>
          <p:nvPr>
            <p:ph type="title"/>
          </p:nvPr>
        </p:nvSpPr>
        <p:spPr>
          <a:xfrm>
            <a:off x="3150575" y="501975"/>
            <a:ext cx="5511600" cy="7074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007F7D"/>
              </a:buClr>
              <a:buSzPts val="3400"/>
              <a:buFont typeface="Heiti TC"/>
              <a:buNone/>
              <a:defRPr sz="3400">
                <a:solidFill>
                  <a:srgbClr val="007F7D"/>
                </a:solidFill>
                <a:latin typeface="Heiti TC"/>
                <a:ea typeface="Heiti TC"/>
                <a:cs typeface="Heiti TC"/>
                <a:sym typeface="Heiti TC"/>
              </a:defRPr>
            </a:lvl1pPr>
            <a:lvl2pPr lvl="1" rtl="0">
              <a:spcBef>
                <a:spcPts val="0"/>
              </a:spcBef>
              <a:spcAft>
                <a:spcPts val="0"/>
              </a:spcAft>
              <a:buSzPts val="3600"/>
              <a:buFont typeface="Arial"/>
              <a:buNone/>
              <a:defRPr>
                <a:latin typeface="Arial"/>
                <a:ea typeface="Arial"/>
                <a:cs typeface="Arial"/>
                <a:sym typeface="Arial"/>
              </a:defRPr>
            </a:lvl2pPr>
            <a:lvl3pPr lvl="2" rtl="0">
              <a:spcBef>
                <a:spcPts val="0"/>
              </a:spcBef>
              <a:spcAft>
                <a:spcPts val="0"/>
              </a:spcAft>
              <a:buSzPts val="3600"/>
              <a:buFont typeface="Arial"/>
              <a:buNone/>
              <a:defRPr>
                <a:latin typeface="Arial"/>
                <a:ea typeface="Arial"/>
                <a:cs typeface="Arial"/>
                <a:sym typeface="Arial"/>
              </a:defRPr>
            </a:lvl3pPr>
            <a:lvl4pPr lvl="3" rtl="0">
              <a:spcBef>
                <a:spcPts val="0"/>
              </a:spcBef>
              <a:spcAft>
                <a:spcPts val="0"/>
              </a:spcAft>
              <a:buSzPts val="3600"/>
              <a:buFont typeface="Arial"/>
              <a:buNone/>
              <a:defRPr>
                <a:latin typeface="Arial"/>
                <a:ea typeface="Arial"/>
                <a:cs typeface="Arial"/>
                <a:sym typeface="Arial"/>
              </a:defRPr>
            </a:lvl4pPr>
            <a:lvl5pPr lvl="4" rtl="0">
              <a:spcBef>
                <a:spcPts val="0"/>
              </a:spcBef>
              <a:spcAft>
                <a:spcPts val="0"/>
              </a:spcAft>
              <a:buSzPts val="3600"/>
              <a:buFont typeface="Arial"/>
              <a:buNone/>
              <a:defRPr>
                <a:latin typeface="Arial"/>
                <a:ea typeface="Arial"/>
                <a:cs typeface="Arial"/>
                <a:sym typeface="Arial"/>
              </a:defRPr>
            </a:lvl5pPr>
            <a:lvl6pPr lvl="5" rtl="0">
              <a:spcBef>
                <a:spcPts val="0"/>
              </a:spcBef>
              <a:spcAft>
                <a:spcPts val="0"/>
              </a:spcAft>
              <a:buSzPts val="3600"/>
              <a:buFont typeface="Arial"/>
              <a:buNone/>
              <a:defRPr>
                <a:latin typeface="Arial"/>
                <a:ea typeface="Arial"/>
                <a:cs typeface="Arial"/>
                <a:sym typeface="Arial"/>
              </a:defRPr>
            </a:lvl6pPr>
            <a:lvl7pPr lvl="6" rtl="0">
              <a:spcBef>
                <a:spcPts val="0"/>
              </a:spcBef>
              <a:spcAft>
                <a:spcPts val="0"/>
              </a:spcAft>
              <a:buSzPts val="3600"/>
              <a:buFont typeface="Arial"/>
              <a:buNone/>
              <a:defRPr>
                <a:latin typeface="Arial"/>
                <a:ea typeface="Arial"/>
                <a:cs typeface="Arial"/>
                <a:sym typeface="Arial"/>
              </a:defRPr>
            </a:lvl7pPr>
            <a:lvl8pPr lvl="7" rtl="0">
              <a:spcBef>
                <a:spcPts val="0"/>
              </a:spcBef>
              <a:spcAft>
                <a:spcPts val="0"/>
              </a:spcAft>
              <a:buSzPts val="3600"/>
              <a:buFont typeface="Arial"/>
              <a:buNone/>
              <a:defRPr>
                <a:latin typeface="Arial"/>
                <a:ea typeface="Arial"/>
                <a:cs typeface="Arial"/>
                <a:sym typeface="Arial"/>
              </a:defRPr>
            </a:lvl8pPr>
            <a:lvl9pPr lvl="8" rtl="0">
              <a:spcBef>
                <a:spcPts val="0"/>
              </a:spcBef>
              <a:spcAft>
                <a:spcPts val="0"/>
              </a:spcAft>
              <a:buSzPts val="3600"/>
              <a:buFont typeface="Arial"/>
              <a:buNone/>
              <a:defRPr>
                <a:latin typeface="Arial"/>
                <a:ea typeface="Arial"/>
                <a:cs typeface="Arial"/>
                <a:sym typeface="Arial"/>
              </a:defRPr>
            </a:lvl9pPr>
          </a:lstStyle>
          <a:p>
            <a:endParaRPr/>
          </a:p>
        </p:txBody>
      </p:sp>
      <p:sp>
        <p:nvSpPr>
          <p:cNvPr id="57" name="Google Shape;57;p9"/>
          <p:cNvSpPr/>
          <p:nvPr/>
        </p:nvSpPr>
        <p:spPr>
          <a:xfrm>
            <a:off x="-26700" y="5056825"/>
            <a:ext cx="91974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 name="Google Shape;58;p9"/>
          <p:cNvPicPr preferRelativeResize="0"/>
          <p:nvPr/>
        </p:nvPicPr>
        <p:blipFill rotWithShape="1">
          <a:blip r:embed="rId2">
            <a:alphaModFix/>
          </a:blip>
          <a:srcRect/>
          <a:stretch/>
        </p:blipFill>
        <p:spPr>
          <a:xfrm>
            <a:off x="366351" y="1862715"/>
            <a:ext cx="2652351" cy="1661525"/>
          </a:xfrm>
          <a:prstGeom prst="rect">
            <a:avLst/>
          </a:prstGeom>
          <a:noFill/>
          <a:ln>
            <a:noFill/>
          </a:ln>
        </p:spPr>
      </p:pic>
      <p:sp>
        <p:nvSpPr>
          <p:cNvPr id="59" name="Google Shape;59;p9"/>
          <p:cNvSpPr txBox="1">
            <a:spLocks noGrp="1"/>
          </p:cNvSpPr>
          <p:nvPr>
            <p:ph type="body" idx="1"/>
          </p:nvPr>
        </p:nvSpPr>
        <p:spPr>
          <a:xfrm>
            <a:off x="3150575" y="1754125"/>
            <a:ext cx="5511600" cy="2495400"/>
          </a:xfrm>
          <a:prstGeom prst="rect">
            <a:avLst/>
          </a:prstGeom>
        </p:spPr>
        <p:txBody>
          <a:bodyPr spcFirstLastPara="1" wrap="square" lIns="91425" tIns="91425" rIns="91425" bIns="91425" anchor="t" anchorCtr="0">
            <a:normAutofit/>
          </a:bodyPr>
          <a:lstStyle>
            <a:lvl1pPr marL="457200" lvl="0" indent="-368300" rtl="0">
              <a:spcBef>
                <a:spcPts val="0"/>
              </a:spcBef>
              <a:spcAft>
                <a:spcPts val="0"/>
              </a:spcAft>
              <a:buClr>
                <a:srgbClr val="222222"/>
              </a:buClr>
              <a:buSzPts val="2200"/>
              <a:buFont typeface="Heiti TC"/>
              <a:buChar char="●"/>
              <a:defRPr>
                <a:solidFill>
                  <a:srgbClr val="222222"/>
                </a:solidFill>
                <a:latin typeface="Heiti TC"/>
                <a:ea typeface="Heiti TC"/>
                <a:cs typeface="Heiti TC"/>
                <a:sym typeface="Heiti TC"/>
              </a:defRPr>
            </a:lvl1pPr>
            <a:lvl2pPr marL="914400" lvl="1" indent="-330200" rtl="0">
              <a:spcBef>
                <a:spcPts val="0"/>
              </a:spcBef>
              <a:spcAft>
                <a:spcPts val="0"/>
              </a:spcAft>
              <a:buClr>
                <a:srgbClr val="222222"/>
              </a:buClr>
              <a:buSzPts val="1600"/>
              <a:buFont typeface="Heiti TC"/>
              <a:buChar char="○"/>
              <a:defRPr sz="1600">
                <a:solidFill>
                  <a:srgbClr val="222222"/>
                </a:solidFill>
                <a:latin typeface="Heiti TC"/>
                <a:ea typeface="Heiti TC"/>
                <a:cs typeface="Heiti TC"/>
                <a:sym typeface="Heiti TC"/>
              </a:defRPr>
            </a:lvl2pPr>
            <a:lvl3pPr marL="1371600" lvl="2" indent="-330200" rtl="0">
              <a:spcBef>
                <a:spcPts val="0"/>
              </a:spcBef>
              <a:spcAft>
                <a:spcPts val="0"/>
              </a:spcAft>
              <a:buClr>
                <a:srgbClr val="222222"/>
              </a:buClr>
              <a:buSzPts val="1600"/>
              <a:buFont typeface="Heiti TC"/>
              <a:buChar char="■"/>
              <a:defRPr sz="1600">
                <a:solidFill>
                  <a:srgbClr val="222222"/>
                </a:solidFill>
                <a:latin typeface="Heiti TC"/>
                <a:ea typeface="Heiti TC"/>
                <a:cs typeface="Heiti TC"/>
                <a:sym typeface="Heiti TC"/>
              </a:defRPr>
            </a:lvl3pPr>
            <a:lvl4pPr marL="1828800" lvl="3" indent="-330200" rtl="0">
              <a:spcBef>
                <a:spcPts val="0"/>
              </a:spcBef>
              <a:spcAft>
                <a:spcPts val="0"/>
              </a:spcAft>
              <a:buClr>
                <a:srgbClr val="222222"/>
              </a:buClr>
              <a:buSzPts val="1600"/>
              <a:buFont typeface="Heiti TC"/>
              <a:buChar char="●"/>
              <a:defRPr sz="1600">
                <a:solidFill>
                  <a:srgbClr val="222222"/>
                </a:solidFill>
                <a:latin typeface="Heiti TC"/>
                <a:ea typeface="Heiti TC"/>
                <a:cs typeface="Heiti TC"/>
                <a:sym typeface="Heiti TC"/>
              </a:defRPr>
            </a:lvl4pPr>
            <a:lvl5pPr marL="2286000" lvl="4" indent="-330200" rtl="0">
              <a:spcBef>
                <a:spcPts val="0"/>
              </a:spcBef>
              <a:spcAft>
                <a:spcPts val="0"/>
              </a:spcAft>
              <a:buClr>
                <a:srgbClr val="222222"/>
              </a:buClr>
              <a:buSzPts val="1600"/>
              <a:buFont typeface="Heiti TC"/>
              <a:buChar char="○"/>
              <a:defRPr sz="1600">
                <a:solidFill>
                  <a:srgbClr val="222222"/>
                </a:solidFill>
                <a:latin typeface="Heiti TC"/>
                <a:ea typeface="Heiti TC"/>
                <a:cs typeface="Heiti TC"/>
                <a:sym typeface="Heiti TC"/>
              </a:defRPr>
            </a:lvl5pPr>
            <a:lvl6pPr marL="2743200" lvl="5" indent="-330200" rtl="0">
              <a:spcBef>
                <a:spcPts val="0"/>
              </a:spcBef>
              <a:spcAft>
                <a:spcPts val="0"/>
              </a:spcAft>
              <a:buClr>
                <a:srgbClr val="222222"/>
              </a:buClr>
              <a:buSzPts val="1600"/>
              <a:buFont typeface="Heiti TC"/>
              <a:buChar char="■"/>
              <a:defRPr sz="1600">
                <a:solidFill>
                  <a:srgbClr val="222222"/>
                </a:solidFill>
                <a:latin typeface="Heiti TC"/>
                <a:ea typeface="Heiti TC"/>
                <a:cs typeface="Heiti TC"/>
                <a:sym typeface="Heiti TC"/>
              </a:defRPr>
            </a:lvl6pPr>
            <a:lvl7pPr marL="3200400" lvl="6" indent="-330200" rtl="0">
              <a:spcBef>
                <a:spcPts val="0"/>
              </a:spcBef>
              <a:spcAft>
                <a:spcPts val="0"/>
              </a:spcAft>
              <a:buClr>
                <a:srgbClr val="222222"/>
              </a:buClr>
              <a:buSzPts val="1600"/>
              <a:buFont typeface="Heiti TC"/>
              <a:buChar char="●"/>
              <a:defRPr sz="1600">
                <a:solidFill>
                  <a:srgbClr val="222222"/>
                </a:solidFill>
                <a:latin typeface="Heiti TC"/>
                <a:ea typeface="Heiti TC"/>
                <a:cs typeface="Heiti TC"/>
                <a:sym typeface="Heiti TC"/>
              </a:defRPr>
            </a:lvl7pPr>
            <a:lvl8pPr marL="3657600" lvl="7" indent="-330200" rtl="0">
              <a:spcBef>
                <a:spcPts val="0"/>
              </a:spcBef>
              <a:spcAft>
                <a:spcPts val="0"/>
              </a:spcAft>
              <a:buClr>
                <a:srgbClr val="222222"/>
              </a:buClr>
              <a:buSzPts val="1600"/>
              <a:buFont typeface="Heiti TC"/>
              <a:buChar char="○"/>
              <a:defRPr sz="1600">
                <a:solidFill>
                  <a:srgbClr val="222222"/>
                </a:solidFill>
                <a:latin typeface="Heiti TC"/>
                <a:ea typeface="Heiti TC"/>
                <a:cs typeface="Heiti TC"/>
                <a:sym typeface="Heiti TC"/>
              </a:defRPr>
            </a:lvl8pPr>
            <a:lvl9pPr marL="4114800" lvl="8" indent="-330200" rtl="0">
              <a:spcBef>
                <a:spcPts val="0"/>
              </a:spcBef>
              <a:spcAft>
                <a:spcPts val="0"/>
              </a:spcAft>
              <a:buClr>
                <a:srgbClr val="222222"/>
              </a:buClr>
              <a:buSzPts val="1600"/>
              <a:buFont typeface="Heiti TC"/>
              <a:buChar char="■"/>
              <a:defRPr sz="1600">
                <a:solidFill>
                  <a:srgbClr val="222222"/>
                </a:solidFill>
                <a:latin typeface="Heiti TC"/>
                <a:ea typeface="Heiti TC"/>
                <a:cs typeface="Heiti TC"/>
                <a:sym typeface="Heiti TC"/>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Heiti TC"/>
              <a:buNone/>
              <a:defRPr sz="2400">
                <a:latin typeface="Heiti TC"/>
                <a:ea typeface="Heiti TC"/>
                <a:cs typeface="Heiti TC"/>
                <a:sym typeface="Heiti TC"/>
              </a:defRPr>
            </a:lvl1pPr>
          </a:lstStyle>
          <a:p>
            <a:endParaRPr/>
          </a:p>
        </p:txBody>
      </p:sp>
      <p:sp>
        <p:nvSpPr>
          <p:cNvPr id="62" name="Google Shape;6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
        <p:nvSpPr>
          <p:cNvPr id="63" name="Google Shape;63;p10"/>
          <p:cNvSpPr/>
          <p:nvPr/>
        </p:nvSpPr>
        <p:spPr>
          <a:xfrm>
            <a:off x="-26700" y="5056825"/>
            <a:ext cx="91974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說明文字 1">
  <p:cSld name="CAPTION_ONLY_1">
    <p:spTree>
      <p:nvGrpSpPr>
        <p:cNvPr id="1" name="Shape 64"/>
        <p:cNvGrpSpPr/>
        <p:nvPr/>
      </p:nvGrpSpPr>
      <p:grpSpPr>
        <a:xfrm>
          <a:off x="0" y="0"/>
          <a:ext cx="0" cy="0"/>
          <a:chOff x="0" y="0"/>
          <a:chExt cx="0" cy="0"/>
        </a:xfrm>
      </p:grpSpPr>
      <p:sp>
        <p:nvSpPr>
          <p:cNvPr id="65" name="Google Shape;6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zh-TW"/>
              <a:t>‹#›</a:t>
            </a:fld>
            <a:endParaRPr/>
          </a:p>
        </p:txBody>
      </p:sp>
      <p:sp>
        <p:nvSpPr>
          <p:cNvPr id="66" name="Google Shape;66;p11"/>
          <p:cNvSpPr/>
          <p:nvPr/>
        </p:nvSpPr>
        <p:spPr>
          <a:xfrm>
            <a:off x="-26700" y="5056825"/>
            <a:ext cx="91974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1"/>
          <p:cNvSpPr txBox="1">
            <a:spLocks noGrp="1"/>
          </p:cNvSpPr>
          <p:nvPr>
            <p:ph type="title"/>
          </p:nvPr>
        </p:nvSpPr>
        <p:spPr>
          <a:xfrm>
            <a:off x="340175" y="3988800"/>
            <a:ext cx="8492100" cy="707400"/>
          </a:xfrm>
          <a:prstGeom prst="rect">
            <a:avLst/>
          </a:prstGeom>
        </p:spPr>
        <p:txBody>
          <a:bodyPr spcFirstLastPara="1" wrap="square" lIns="91425" tIns="91425" rIns="91425" bIns="91425" anchor="ctr" anchorCtr="0">
            <a:normAutofit/>
          </a:bodyPr>
          <a:lstStyle>
            <a:lvl1pPr lvl="0" rtl="0">
              <a:spcBef>
                <a:spcPts val="0"/>
              </a:spcBef>
              <a:spcAft>
                <a:spcPts val="0"/>
              </a:spcAft>
              <a:buClr>
                <a:srgbClr val="007F7D"/>
              </a:buClr>
              <a:buSzPts val="3400"/>
              <a:buFont typeface="Heiti TC"/>
              <a:buNone/>
              <a:defRPr sz="3400">
                <a:solidFill>
                  <a:srgbClr val="007F7D"/>
                </a:solidFill>
                <a:latin typeface="Heiti TC"/>
                <a:ea typeface="Heiti TC"/>
                <a:cs typeface="Heiti TC"/>
                <a:sym typeface="Heiti TC"/>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空白">
  <p:cSld name="TITLE_AND_BODY_1">
    <p:spTree>
      <p:nvGrpSpPr>
        <p:cNvPr id="1" name="Shape 68"/>
        <p:cNvGrpSpPr/>
        <p:nvPr/>
      </p:nvGrpSpPr>
      <p:grpSpPr>
        <a:xfrm>
          <a:off x="0" y="0"/>
          <a:ext cx="0" cy="0"/>
          <a:chOff x="0" y="0"/>
          <a:chExt cx="0" cy="0"/>
        </a:xfrm>
      </p:grpSpPr>
      <p:sp>
        <p:nvSpPr>
          <p:cNvPr id="69" name="Google Shape;69;p12"/>
          <p:cNvSpPr txBox="1">
            <a:spLocks noGrp="1"/>
          </p:cNvSpPr>
          <p:nvPr>
            <p:ph type="sldNum" idx="12"/>
          </p:nvPr>
        </p:nvSpPr>
        <p:spPr>
          <a:xfrm>
            <a:off x="8317364" y="4803211"/>
            <a:ext cx="198000" cy="201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ctr" anchorCtr="0">
            <a:normAutofit/>
          </a:bodyPr>
          <a:lstStyle>
            <a:lvl1pPr lvl="0">
              <a:spcBef>
                <a:spcPts val="0"/>
              </a:spcBef>
              <a:spcAft>
                <a:spcPts val="0"/>
              </a:spcAft>
              <a:buClr>
                <a:schemeClr val="accent1"/>
              </a:buClr>
              <a:buSzPts val="3600"/>
              <a:buFont typeface="Heiti TC"/>
              <a:buNone/>
              <a:defRPr sz="3600" b="1">
                <a:solidFill>
                  <a:schemeClr val="accent1"/>
                </a:solidFill>
                <a:latin typeface="Heiti TC"/>
                <a:ea typeface="Heiti TC"/>
                <a:cs typeface="Heiti TC"/>
                <a:sym typeface="Heiti TC"/>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68300">
              <a:lnSpc>
                <a:spcPct val="115000"/>
              </a:lnSpc>
              <a:spcBef>
                <a:spcPts val="0"/>
              </a:spcBef>
              <a:spcAft>
                <a:spcPts val="0"/>
              </a:spcAft>
              <a:buClr>
                <a:srgbClr val="222222"/>
              </a:buClr>
              <a:buSzPts val="2200"/>
              <a:buFont typeface="Open Sans"/>
              <a:buChar char="●"/>
              <a:defRPr sz="2200">
                <a:solidFill>
                  <a:srgbClr val="222222"/>
                </a:solidFill>
                <a:latin typeface="Open Sans"/>
                <a:ea typeface="Open Sans"/>
                <a:cs typeface="Open Sans"/>
                <a:sym typeface="Open Sans"/>
              </a:defRPr>
            </a:lvl1pPr>
            <a:lvl2pPr marL="914400" lvl="1" indent="-342900">
              <a:lnSpc>
                <a:spcPct val="115000"/>
              </a:lnSpc>
              <a:spcBef>
                <a:spcPts val="0"/>
              </a:spcBef>
              <a:spcAft>
                <a:spcPts val="0"/>
              </a:spcAft>
              <a:buClr>
                <a:srgbClr val="222222"/>
              </a:buClr>
              <a:buSzPts val="1800"/>
              <a:buFont typeface="Open Sans"/>
              <a:buChar char="○"/>
              <a:defRPr sz="1800">
                <a:solidFill>
                  <a:srgbClr val="222222"/>
                </a:solidFill>
                <a:latin typeface="Open Sans"/>
                <a:ea typeface="Open Sans"/>
                <a:cs typeface="Open Sans"/>
                <a:sym typeface="Open Sans"/>
              </a:defRPr>
            </a:lvl2pPr>
            <a:lvl3pPr marL="1371600" lvl="2" indent="-342900">
              <a:lnSpc>
                <a:spcPct val="115000"/>
              </a:lnSpc>
              <a:spcBef>
                <a:spcPts val="0"/>
              </a:spcBef>
              <a:spcAft>
                <a:spcPts val="0"/>
              </a:spcAft>
              <a:buClr>
                <a:srgbClr val="222222"/>
              </a:buClr>
              <a:buSzPts val="1800"/>
              <a:buFont typeface="Open Sans"/>
              <a:buChar char="■"/>
              <a:defRPr sz="1800">
                <a:solidFill>
                  <a:srgbClr val="222222"/>
                </a:solidFill>
                <a:latin typeface="Open Sans"/>
                <a:ea typeface="Open Sans"/>
                <a:cs typeface="Open Sans"/>
                <a:sym typeface="Open Sans"/>
              </a:defRPr>
            </a:lvl3pPr>
            <a:lvl4pPr marL="1828800" lvl="3" indent="-342900">
              <a:lnSpc>
                <a:spcPct val="115000"/>
              </a:lnSpc>
              <a:spcBef>
                <a:spcPts val="0"/>
              </a:spcBef>
              <a:spcAft>
                <a:spcPts val="0"/>
              </a:spcAft>
              <a:buClr>
                <a:srgbClr val="222222"/>
              </a:buClr>
              <a:buSzPts val="1800"/>
              <a:buFont typeface="Open Sans"/>
              <a:buChar char="●"/>
              <a:defRPr sz="1800">
                <a:solidFill>
                  <a:srgbClr val="222222"/>
                </a:solidFill>
                <a:latin typeface="Open Sans"/>
                <a:ea typeface="Open Sans"/>
                <a:cs typeface="Open Sans"/>
                <a:sym typeface="Open Sans"/>
              </a:defRPr>
            </a:lvl4pPr>
            <a:lvl5pPr marL="2286000" lvl="4" indent="-342900">
              <a:lnSpc>
                <a:spcPct val="115000"/>
              </a:lnSpc>
              <a:spcBef>
                <a:spcPts val="0"/>
              </a:spcBef>
              <a:spcAft>
                <a:spcPts val="0"/>
              </a:spcAft>
              <a:buClr>
                <a:srgbClr val="222222"/>
              </a:buClr>
              <a:buSzPts val="1800"/>
              <a:buFont typeface="Open Sans"/>
              <a:buChar char="○"/>
              <a:defRPr sz="1800">
                <a:solidFill>
                  <a:srgbClr val="222222"/>
                </a:solidFill>
                <a:latin typeface="Open Sans"/>
                <a:ea typeface="Open Sans"/>
                <a:cs typeface="Open Sans"/>
                <a:sym typeface="Open Sans"/>
              </a:defRPr>
            </a:lvl5pPr>
            <a:lvl6pPr marL="2743200" lvl="5" indent="-342900">
              <a:lnSpc>
                <a:spcPct val="115000"/>
              </a:lnSpc>
              <a:spcBef>
                <a:spcPts val="0"/>
              </a:spcBef>
              <a:spcAft>
                <a:spcPts val="0"/>
              </a:spcAft>
              <a:buClr>
                <a:srgbClr val="222222"/>
              </a:buClr>
              <a:buSzPts val="1800"/>
              <a:buFont typeface="Open Sans"/>
              <a:buChar char="■"/>
              <a:defRPr sz="1800">
                <a:solidFill>
                  <a:srgbClr val="222222"/>
                </a:solidFill>
                <a:latin typeface="Open Sans"/>
                <a:ea typeface="Open Sans"/>
                <a:cs typeface="Open Sans"/>
                <a:sym typeface="Open Sans"/>
              </a:defRPr>
            </a:lvl6pPr>
            <a:lvl7pPr marL="3200400" lvl="6" indent="-342900">
              <a:lnSpc>
                <a:spcPct val="115000"/>
              </a:lnSpc>
              <a:spcBef>
                <a:spcPts val="0"/>
              </a:spcBef>
              <a:spcAft>
                <a:spcPts val="0"/>
              </a:spcAft>
              <a:buClr>
                <a:srgbClr val="222222"/>
              </a:buClr>
              <a:buSzPts val="1800"/>
              <a:buFont typeface="Open Sans"/>
              <a:buChar char="●"/>
              <a:defRPr sz="1800">
                <a:solidFill>
                  <a:srgbClr val="222222"/>
                </a:solidFill>
                <a:latin typeface="Open Sans"/>
                <a:ea typeface="Open Sans"/>
                <a:cs typeface="Open Sans"/>
                <a:sym typeface="Open Sans"/>
              </a:defRPr>
            </a:lvl7pPr>
            <a:lvl8pPr marL="3657600" lvl="7" indent="-342900">
              <a:lnSpc>
                <a:spcPct val="115000"/>
              </a:lnSpc>
              <a:spcBef>
                <a:spcPts val="0"/>
              </a:spcBef>
              <a:spcAft>
                <a:spcPts val="0"/>
              </a:spcAft>
              <a:buClr>
                <a:srgbClr val="222222"/>
              </a:buClr>
              <a:buSzPts val="1800"/>
              <a:buFont typeface="Open Sans"/>
              <a:buChar char="○"/>
              <a:defRPr sz="1800">
                <a:solidFill>
                  <a:srgbClr val="222222"/>
                </a:solidFill>
                <a:latin typeface="Open Sans"/>
                <a:ea typeface="Open Sans"/>
                <a:cs typeface="Open Sans"/>
                <a:sym typeface="Open Sans"/>
              </a:defRPr>
            </a:lvl8pPr>
            <a:lvl9pPr marL="4114800" lvl="8" indent="-342900">
              <a:lnSpc>
                <a:spcPct val="115000"/>
              </a:lnSpc>
              <a:spcBef>
                <a:spcPts val="0"/>
              </a:spcBef>
              <a:spcAft>
                <a:spcPts val="0"/>
              </a:spcAft>
              <a:buClr>
                <a:srgbClr val="222222"/>
              </a:buClr>
              <a:buSzPts val="1800"/>
              <a:buFont typeface="Open Sans"/>
              <a:buChar char="■"/>
              <a:defRPr sz="1800">
                <a:solidFill>
                  <a:srgbClr val="22222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hyperlink" Target="https://management.ntu.edu.tw/EMBA"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dschool.ntu.edu.tw/" TargetMode="External"/><Relationship Id="rId1" Type="http://schemas.openxmlformats.org/officeDocument/2006/relationships/slideLayout" Target="../slideLayouts/slideLayout5.xml"/><Relationship Id="rId6" Type="http://schemas.openxmlformats.org/officeDocument/2006/relationships/hyperlink" Target="https://management.ntu.edu.tw/EIMBA"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homepage.ntu.edu.tw/~ntuilo/ntuilo/Default.html" TargetMode="External"/><Relationship Id="rId4" Type="http://schemas.openxmlformats.org/officeDocument/2006/relationships/hyperlink" Target="https://cep.ntu.edu.tw/%e5%89%b5%e5%89%b5%e5%ad%b8%e7%a8%8b%e7%b0%a1%e4%bb%8b/" TargetMode="External"/><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3"/>
          <p:cNvSpPr txBox="1">
            <a:spLocks noGrp="1"/>
          </p:cNvSpPr>
          <p:nvPr>
            <p:ph type="ctrTitle"/>
          </p:nvPr>
        </p:nvSpPr>
        <p:spPr>
          <a:xfrm>
            <a:off x="1004150" y="1377455"/>
            <a:ext cx="7136700" cy="1515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zh-TW" sz="3700" dirty="0"/>
              <a:t>校級研究中心</a:t>
            </a:r>
            <a:r>
              <a:rPr lang="zh-TW" altLang="en-US" sz="3700" dirty="0"/>
              <a:t>三</a:t>
            </a:r>
            <a:r>
              <a:rPr lang="zh-TW" sz="3700" dirty="0"/>
              <a:t>年期營運計畫書</a:t>
            </a:r>
            <a:endParaRPr sz="3700" dirty="0"/>
          </a:p>
        </p:txBody>
      </p:sp>
      <p:sp>
        <p:nvSpPr>
          <p:cNvPr id="75" name="Google Shape;75;p13"/>
          <p:cNvSpPr txBox="1">
            <a:spLocks noGrp="1"/>
          </p:cNvSpPr>
          <p:nvPr>
            <p:ph type="subTitle" idx="1"/>
          </p:nvPr>
        </p:nvSpPr>
        <p:spPr>
          <a:xfrm>
            <a:off x="2136750" y="2905877"/>
            <a:ext cx="4870500" cy="792600"/>
          </a:xfrm>
          <a:prstGeom prst="rect">
            <a:avLst/>
          </a:prstGeom>
        </p:spPr>
        <p:txBody>
          <a:bodyPr spcFirstLastPara="1" wrap="square" lIns="91425" tIns="91425" rIns="91425" bIns="91425" anchor="ctr" anchorCtr="0">
            <a:normAutofit fontScale="92500" lnSpcReduction="10000"/>
          </a:bodyPr>
          <a:lstStyle/>
          <a:p>
            <a:pPr marL="0" lvl="0" indent="0" algn="ctr" rtl="0">
              <a:spcBef>
                <a:spcPts val="0"/>
              </a:spcBef>
              <a:spcAft>
                <a:spcPts val="0"/>
              </a:spcAft>
              <a:buNone/>
            </a:pPr>
            <a:r>
              <a:rPr lang="zh-TW" sz="2800" dirty="0"/>
              <a:t>台大創創中心</a:t>
            </a:r>
            <a:endParaRPr lang="en-US" altLang="zh-TW" sz="2800" dirty="0"/>
          </a:p>
          <a:p>
            <a:pPr marL="0" lvl="0" indent="0" algn="ctr" rtl="0">
              <a:spcBef>
                <a:spcPts val="0"/>
              </a:spcBef>
              <a:spcAft>
                <a:spcPts val="0"/>
              </a:spcAft>
              <a:buNone/>
            </a:pPr>
            <a:r>
              <a:rPr lang="zh-TW" altLang="zh-TW" sz="1900" dirty="0"/>
              <a:t>202</a:t>
            </a:r>
            <a:r>
              <a:rPr lang="en-US" altLang="zh-TW" sz="1900" dirty="0"/>
              <a:t>5.</a:t>
            </a:r>
            <a:r>
              <a:rPr lang="zh-TW" altLang="zh-TW" sz="1900" dirty="0"/>
              <a:t>0</a:t>
            </a:r>
            <a:r>
              <a:rPr lang="en-US" altLang="zh-TW" sz="1900" dirty="0"/>
              <a:t>1.20</a:t>
            </a:r>
            <a:endParaRPr sz="1900" dirty="0"/>
          </a:p>
        </p:txBody>
      </p:sp>
      <p:sp>
        <p:nvSpPr>
          <p:cNvPr id="2" name="投影片編號版面配置區 1">
            <a:extLst>
              <a:ext uri="{FF2B5EF4-FFF2-40B4-BE49-F238E27FC236}">
                <a16:creationId xmlns:a16="http://schemas.microsoft.com/office/drawing/2014/main" id="{302E9023-AD2F-4E1E-A7C0-99BD6F9E6E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1</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4"/>
          <p:cNvSpPr txBox="1">
            <a:spLocks noGrp="1"/>
          </p:cNvSpPr>
          <p:nvPr>
            <p:ph type="title"/>
          </p:nvPr>
        </p:nvSpPr>
        <p:spPr>
          <a:xfrm>
            <a:off x="75" y="2100750"/>
            <a:ext cx="3776100" cy="9420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zh-TW"/>
              <a:t>大綱</a:t>
            </a:r>
            <a:endParaRPr/>
          </a:p>
        </p:txBody>
      </p:sp>
      <p:sp>
        <p:nvSpPr>
          <p:cNvPr id="81" name="Google Shape;81;p14"/>
          <p:cNvSpPr txBox="1">
            <a:spLocks noGrp="1"/>
          </p:cNvSpPr>
          <p:nvPr>
            <p:ph type="body" idx="1"/>
          </p:nvPr>
        </p:nvSpPr>
        <p:spPr>
          <a:xfrm>
            <a:off x="4133175" y="675300"/>
            <a:ext cx="4699200" cy="43443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SzPts val="2400"/>
              <a:buAutoNum type="arabicPeriod"/>
            </a:pPr>
            <a:r>
              <a:rPr lang="zh-TW" dirty="0"/>
              <a:t>中心</a:t>
            </a:r>
            <a:r>
              <a:rPr lang="zh-TW" altLang="en-US" dirty="0"/>
              <a:t>使命</a:t>
            </a:r>
            <a:endParaRPr dirty="0"/>
          </a:p>
          <a:p>
            <a:pPr marL="457200" lvl="0" indent="-381000" algn="l" rtl="0">
              <a:spcBef>
                <a:spcPts val="0"/>
              </a:spcBef>
              <a:spcAft>
                <a:spcPts val="0"/>
              </a:spcAft>
              <a:buSzPts val="2400"/>
              <a:buAutoNum type="arabicPeriod"/>
            </a:pPr>
            <a:r>
              <a:rPr lang="zh-TW" altLang="en-US" dirty="0"/>
              <a:t>發展策略：</a:t>
            </a:r>
            <a:r>
              <a:rPr lang="en-US" altLang="zh-TW" dirty="0"/>
              <a:t>H3I</a:t>
            </a:r>
          </a:p>
          <a:p>
            <a:pPr>
              <a:buFont typeface="Heiti TC"/>
              <a:buAutoNum type="arabicPeriod"/>
            </a:pPr>
            <a:r>
              <a:rPr lang="en-US" altLang="zh-TW" dirty="0"/>
              <a:t>2025-2027</a:t>
            </a:r>
            <a:r>
              <a:rPr lang="zh-TW" altLang="en-US" dirty="0"/>
              <a:t>重點工作</a:t>
            </a:r>
          </a:p>
          <a:p>
            <a:pPr>
              <a:buFont typeface="Heiti TC"/>
              <a:buAutoNum type="arabicPeriod"/>
            </a:pPr>
            <a:r>
              <a:rPr lang="zh-TW" altLang="en-US" dirty="0"/>
              <a:t>中心成員及組織</a:t>
            </a:r>
          </a:p>
          <a:p>
            <a:pPr marL="457200" lvl="0" indent="-381000" algn="l" rtl="0">
              <a:spcBef>
                <a:spcPts val="0"/>
              </a:spcBef>
              <a:spcAft>
                <a:spcPts val="0"/>
              </a:spcAft>
              <a:buSzPts val="2400"/>
              <a:buAutoNum type="arabicPeriod"/>
            </a:pPr>
            <a:r>
              <a:rPr lang="zh-TW" dirty="0"/>
              <a:t>空間規劃</a:t>
            </a:r>
            <a:endParaRPr dirty="0"/>
          </a:p>
          <a:p>
            <a:pPr marL="457200" lvl="0" indent="-381000" algn="l" rtl="0">
              <a:spcBef>
                <a:spcPts val="0"/>
              </a:spcBef>
              <a:spcAft>
                <a:spcPts val="0"/>
              </a:spcAft>
              <a:buSzPts val="2400"/>
              <a:buAutoNum type="arabicPeriod"/>
            </a:pPr>
            <a:r>
              <a:rPr lang="zh-TW" altLang="en-US" dirty="0"/>
              <a:t>預算配置</a:t>
            </a:r>
            <a:endParaRPr dirty="0"/>
          </a:p>
        </p:txBody>
      </p:sp>
      <p:sp>
        <p:nvSpPr>
          <p:cNvPr id="2" name="投影片編號版面配置區 1">
            <a:extLst>
              <a:ext uri="{FF2B5EF4-FFF2-40B4-BE49-F238E27FC236}">
                <a16:creationId xmlns:a16="http://schemas.microsoft.com/office/drawing/2014/main" id="{D313FE22-03FC-45F7-85AA-1F662FE308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2</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zh-TW" dirty="0"/>
              <a:t>中心</a:t>
            </a:r>
            <a:r>
              <a:rPr lang="zh-TW" altLang="en-US" dirty="0"/>
              <a:t>使命</a:t>
            </a:r>
            <a:r>
              <a:rPr lang="zh-TW" dirty="0"/>
              <a:t>：</a:t>
            </a:r>
            <a:r>
              <a:rPr lang="zh-TW" altLang="en-US" sz="3600" dirty="0"/>
              <a:t>打造</a:t>
            </a:r>
            <a:r>
              <a:rPr lang="zh-TW" dirty="0"/>
              <a:t>台大師生的創業生態系</a:t>
            </a:r>
            <a:endParaRPr dirty="0"/>
          </a:p>
        </p:txBody>
      </p:sp>
      <p:sp>
        <p:nvSpPr>
          <p:cNvPr id="87" name="Google Shape;87;p15"/>
          <p:cNvSpPr txBox="1">
            <a:spLocks noGrp="1"/>
          </p:cNvSpPr>
          <p:nvPr>
            <p:ph type="body" idx="1"/>
          </p:nvPr>
        </p:nvSpPr>
        <p:spPr>
          <a:xfrm>
            <a:off x="373575" y="1324925"/>
            <a:ext cx="8520600" cy="1591593"/>
          </a:xfrm>
          <a:prstGeom prst="rect">
            <a:avLst/>
          </a:prstGeom>
        </p:spPr>
        <p:txBody>
          <a:bodyPr spcFirstLastPara="1" wrap="square" lIns="91425" tIns="91425" rIns="91425" bIns="91425" anchor="t" anchorCtr="0">
            <a:noAutofit/>
          </a:bodyPr>
          <a:lstStyle/>
          <a:p>
            <a:pPr marL="0" indent="0" algn="just">
              <a:spcAft>
                <a:spcPts val="1200"/>
              </a:spcAft>
              <a:buNone/>
            </a:pPr>
            <a:r>
              <a:rPr lang="zh-TW" sz="1600" dirty="0"/>
              <a:t>台大創創中心</a:t>
            </a:r>
            <a:r>
              <a:rPr lang="zh-TW" altLang="en-US" sz="1600" dirty="0"/>
              <a:t>成立於</a:t>
            </a:r>
            <a:r>
              <a:rPr lang="en-US" altLang="zh-TW" sz="1600" dirty="0"/>
              <a:t>2014</a:t>
            </a:r>
            <a:r>
              <a:rPr lang="zh-TW" altLang="en-US" sz="1600" dirty="0"/>
              <a:t>年，致力於結合校內外資源與校友網絡，打造</a:t>
            </a:r>
            <a:r>
              <a:rPr lang="zh-TW" altLang="zh-TW" sz="1600" dirty="0"/>
              <a:t>台大</a:t>
            </a:r>
            <a:r>
              <a:rPr lang="zh-TW" altLang="en-US" sz="1600" dirty="0"/>
              <a:t>的</a:t>
            </a:r>
            <a:r>
              <a:rPr lang="zh-TW" altLang="zh-TW" sz="1600" dirty="0"/>
              <a:t>創業生態系。</a:t>
            </a:r>
            <a:endParaRPr lang="en-US" altLang="zh-TW" sz="1600" dirty="0"/>
          </a:p>
          <a:p>
            <a:pPr marL="0" indent="0" algn="just">
              <a:spcAft>
                <a:spcPts val="1200"/>
              </a:spcAft>
              <a:buNone/>
            </a:pPr>
            <a:r>
              <a:rPr lang="zh-TW" altLang="en-US" sz="1600" dirty="0"/>
              <a:t>核心業務包含經營臺大車庫與台大創創加速器，透過</a:t>
            </a:r>
            <a:r>
              <a:rPr lang="zh-TW" altLang="zh-TW" sz="1600" dirty="0">
                <a:solidFill>
                  <a:srgbClr val="000000"/>
                </a:solidFill>
              </a:rPr>
              <a:t>創業課程提供</a:t>
            </a:r>
            <a:r>
              <a:rPr lang="zh-TW" altLang="en-US" sz="1600" dirty="0">
                <a:solidFill>
                  <a:srgbClr val="000000"/>
                </a:solidFill>
              </a:rPr>
              <a:t>、</a:t>
            </a:r>
            <a:r>
              <a:rPr lang="zh-TW" altLang="zh-TW" sz="1600" dirty="0">
                <a:solidFill>
                  <a:srgbClr val="000000"/>
                </a:solidFill>
              </a:rPr>
              <a:t>業師輔道、社群交流</a:t>
            </a:r>
            <a:r>
              <a:rPr lang="zh-TW" altLang="en-US" sz="1600" dirty="0">
                <a:solidFill>
                  <a:srgbClr val="000000"/>
                </a:solidFill>
              </a:rPr>
              <a:t>、</a:t>
            </a:r>
            <a:r>
              <a:rPr lang="zh-TW" altLang="zh-TW" sz="1600" dirty="0">
                <a:solidFill>
                  <a:srgbClr val="000000"/>
                </a:solidFill>
              </a:rPr>
              <a:t>資源對接</a:t>
            </a:r>
            <a:r>
              <a:rPr lang="zh-TW" altLang="en-US" sz="1600" dirty="0">
                <a:solidFill>
                  <a:srgbClr val="000000"/>
                </a:solidFill>
              </a:rPr>
              <a:t>、</a:t>
            </a:r>
            <a:r>
              <a:rPr lang="zh-TW" altLang="zh-TW" sz="1600" dirty="0">
                <a:solidFill>
                  <a:srgbClr val="000000"/>
                </a:solidFill>
              </a:rPr>
              <a:t>及投資媒合</a:t>
            </a:r>
            <a:r>
              <a:rPr lang="zh-TW" altLang="en-US" sz="1600" dirty="0">
                <a:solidFill>
                  <a:srgbClr val="000000"/>
                </a:solidFill>
              </a:rPr>
              <a:t>，</a:t>
            </a:r>
            <a:r>
              <a:rPr lang="zh-TW" altLang="zh-TW" sz="1600" dirty="0">
                <a:solidFill>
                  <a:srgbClr val="000000"/>
                </a:solidFill>
              </a:rPr>
              <a:t>協助台大師生</a:t>
            </a:r>
            <a:r>
              <a:rPr lang="zh-TW" altLang="en-US" sz="1600" dirty="0">
                <a:solidFill>
                  <a:srgbClr val="000000"/>
                </a:solidFill>
              </a:rPr>
              <a:t>與</a:t>
            </a:r>
            <a:r>
              <a:rPr lang="zh-TW" altLang="zh-TW" sz="1600" dirty="0">
                <a:solidFill>
                  <a:srgbClr val="000000"/>
                </a:solidFill>
              </a:rPr>
              <a:t>校友創業</a:t>
            </a:r>
            <a:r>
              <a:rPr lang="zh-TW" altLang="en-US" sz="1600" dirty="0">
                <a:solidFill>
                  <a:srgbClr val="000000"/>
                </a:solidFill>
              </a:rPr>
              <a:t>。截至</a:t>
            </a:r>
            <a:r>
              <a:rPr lang="en-US" altLang="zh-TW" sz="1600" dirty="0">
                <a:solidFill>
                  <a:srgbClr val="000000"/>
                </a:solidFill>
              </a:rPr>
              <a:t>2024</a:t>
            </a:r>
            <a:r>
              <a:rPr lang="zh-TW" altLang="en-US" sz="1600" dirty="0">
                <a:solidFill>
                  <a:srgbClr val="000000"/>
                </a:solidFill>
              </a:rPr>
              <a:t>年底，共輔導</a:t>
            </a:r>
            <a:r>
              <a:rPr lang="en-US" altLang="zh-TW" sz="1600" dirty="0">
                <a:solidFill>
                  <a:srgbClr val="000000"/>
                </a:solidFill>
              </a:rPr>
              <a:t>500+</a:t>
            </a:r>
            <a:r>
              <a:rPr lang="zh-TW" altLang="en-US" sz="1600" dirty="0">
                <a:solidFill>
                  <a:srgbClr val="000000"/>
                </a:solidFill>
              </a:rPr>
              <a:t>團隊，包括</a:t>
            </a:r>
            <a:r>
              <a:rPr lang="en-US" altLang="zh-TW" sz="1600" dirty="0">
                <a:solidFill>
                  <a:srgbClr val="000000"/>
                </a:solidFill>
              </a:rPr>
              <a:t>27</a:t>
            </a:r>
            <a:r>
              <a:rPr lang="zh-TW" altLang="en-US" sz="1600" dirty="0">
                <a:solidFill>
                  <a:srgbClr val="000000"/>
                </a:solidFill>
              </a:rPr>
              <a:t>台大教授團隊、 </a:t>
            </a:r>
            <a:r>
              <a:rPr lang="en-US" altLang="zh-TW" sz="1600" dirty="0">
                <a:solidFill>
                  <a:srgbClr val="000000"/>
                </a:solidFill>
              </a:rPr>
              <a:t>108</a:t>
            </a:r>
            <a:r>
              <a:rPr lang="zh-TW" altLang="en-US" sz="1600" dirty="0">
                <a:solidFill>
                  <a:srgbClr val="000000"/>
                </a:solidFill>
              </a:rPr>
              <a:t>台大學生團隊、 </a:t>
            </a:r>
            <a:r>
              <a:rPr lang="en-US" altLang="zh-TW" sz="1600" dirty="0">
                <a:solidFill>
                  <a:srgbClr val="000000"/>
                </a:solidFill>
              </a:rPr>
              <a:t>186+</a:t>
            </a:r>
            <a:r>
              <a:rPr lang="zh-TW" altLang="en-US" sz="1600" dirty="0">
                <a:solidFill>
                  <a:srgbClr val="000000"/>
                </a:solidFill>
              </a:rPr>
              <a:t>台大校友團隊。</a:t>
            </a:r>
            <a:endParaRPr sz="1600" dirty="0">
              <a:solidFill>
                <a:srgbClr val="000000"/>
              </a:solidFill>
            </a:endParaRPr>
          </a:p>
        </p:txBody>
      </p:sp>
      <p:pic>
        <p:nvPicPr>
          <p:cNvPr id="88" name="Google Shape;88;p15"/>
          <p:cNvPicPr preferRelativeResize="0"/>
          <p:nvPr/>
        </p:nvPicPr>
        <p:blipFill rotWithShape="1">
          <a:blip r:embed="rId3">
            <a:alphaModFix/>
          </a:blip>
          <a:srcRect/>
          <a:stretch/>
        </p:blipFill>
        <p:spPr>
          <a:xfrm>
            <a:off x="1523324" y="2931918"/>
            <a:ext cx="6097351" cy="1825725"/>
          </a:xfrm>
          <a:prstGeom prst="rect">
            <a:avLst/>
          </a:prstGeom>
          <a:noFill/>
          <a:ln>
            <a:noFill/>
          </a:ln>
        </p:spPr>
      </p:pic>
      <p:sp>
        <p:nvSpPr>
          <p:cNvPr id="2" name="投影片編號版面配置區 1">
            <a:extLst>
              <a:ext uri="{FF2B5EF4-FFF2-40B4-BE49-F238E27FC236}">
                <a16:creationId xmlns:a16="http://schemas.microsoft.com/office/drawing/2014/main" id="{0FBDAA71-9B11-4F4D-86DC-0108D58B4F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3</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17F143-8346-4293-A9B5-ADFD50545D73}"/>
              </a:ext>
            </a:extLst>
          </p:cNvPr>
          <p:cNvSpPr>
            <a:spLocks noGrp="1"/>
          </p:cNvSpPr>
          <p:nvPr>
            <p:ph type="title"/>
          </p:nvPr>
        </p:nvSpPr>
        <p:spPr/>
        <p:txBody>
          <a:bodyPr/>
          <a:lstStyle/>
          <a:p>
            <a:r>
              <a:rPr lang="zh-TW" altLang="en-US" dirty="0"/>
              <a:t>校友團隊</a:t>
            </a:r>
          </a:p>
        </p:txBody>
      </p:sp>
      <p:pic>
        <p:nvPicPr>
          <p:cNvPr id="5" name="圖片 4">
            <a:extLst>
              <a:ext uri="{FF2B5EF4-FFF2-40B4-BE49-F238E27FC236}">
                <a16:creationId xmlns:a16="http://schemas.microsoft.com/office/drawing/2014/main" id="{F507BE23-1B4E-45BA-BD8C-2041C3040038}"/>
              </a:ext>
            </a:extLst>
          </p:cNvPr>
          <p:cNvPicPr>
            <a:picLocks noChangeAspect="1"/>
          </p:cNvPicPr>
          <p:nvPr/>
        </p:nvPicPr>
        <p:blipFill>
          <a:blip r:embed="rId2"/>
          <a:stretch>
            <a:fillRect/>
          </a:stretch>
        </p:blipFill>
        <p:spPr>
          <a:xfrm>
            <a:off x="526753" y="1103228"/>
            <a:ext cx="5611083" cy="3893240"/>
          </a:xfrm>
          <a:prstGeom prst="rect">
            <a:avLst/>
          </a:prstGeom>
        </p:spPr>
      </p:pic>
      <p:sp>
        <p:nvSpPr>
          <p:cNvPr id="6" name="投影片編號版面配置區 5">
            <a:extLst>
              <a:ext uri="{FF2B5EF4-FFF2-40B4-BE49-F238E27FC236}">
                <a16:creationId xmlns:a16="http://schemas.microsoft.com/office/drawing/2014/main" id="{17B47839-70BD-48DB-AD3D-4AF2CD42B2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4</a:t>
            </a:fld>
            <a:endParaRPr lang="zh-TW" altLang="en-US"/>
          </a:p>
        </p:txBody>
      </p:sp>
      <p:sp>
        <p:nvSpPr>
          <p:cNvPr id="8" name="文字方塊 7">
            <a:extLst>
              <a:ext uri="{FF2B5EF4-FFF2-40B4-BE49-F238E27FC236}">
                <a16:creationId xmlns:a16="http://schemas.microsoft.com/office/drawing/2014/main" id="{0BD16B8A-8D06-4FC4-B238-BA6A623411DF}"/>
              </a:ext>
            </a:extLst>
          </p:cNvPr>
          <p:cNvSpPr txBox="1"/>
          <p:nvPr/>
        </p:nvSpPr>
        <p:spPr>
          <a:xfrm>
            <a:off x="6341888" y="1509820"/>
            <a:ext cx="2595600" cy="1815882"/>
          </a:xfrm>
          <a:prstGeom prst="rect">
            <a:avLst/>
          </a:prstGeom>
          <a:noFill/>
        </p:spPr>
        <p:txBody>
          <a:bodyPr wrap="square">
            <a:spAutoFit/>
          </a:bodyPr>
          <a:lstStyle/>
          <a:p>
            <a:pPr algn="l"/>
            <a:r>
              <a:rPr lang="zh-TW" altLang="en-US" sz="1400" b="0" i="0" u="none" strike="noStrike" baseline="0" dirty="0">
                <a:solidFill>
                  <a:srgbClr val="434343"/>
                </a:solidFill>
                <a:latin typeface="MicrosoftJhengHeiRegular"/>
              </a:rPr>
              <a:t>創業領域：</a:t>
            </a:r>
          </a:p>
          <a:p>
            <a:pPr algn="l"/>
            <a:r>
              <a:rPr lang="zh-TW" altLang="en-US" sz="1400" b="1" i="0" u="none" strike="noStrike" baseline="0" dirty="0">
                <a:solidFill>
                  <a:srgbClr val="4DAFAA"/>
                </a:solidFill>
                <a:latin typeface="MicrosoftJhengHeiBold"/>
              </a:rPr>
              <a:t>醫療、行銷科技、教育科技、</a:t>
            </a:r>
          </a:p>
          <a:p>
            <a:pPr algn="l"/>
            <a:r>
              <a:rPr lang="zh-TW" altLang="en-US" sz="1400" b="1" i="0" u="none" strike="noStrike" baseline="0" dirty="0">
                <a:solidFill>
                  <a:srgbClr val="4DAFAA"/>
                </a:solidFill>
                <a:latin typeface="MicrosoftJhengHeiBold"/>
              </a:rPr>
              <a:t>金融科技、文創、</a:t>
            </a:r>
            <a:r>
              <a:rPr lang="en-US" altLang="zh-TW" sz="1400" b="1" i="0" u="none" strike="noStrike" baseline="0" dirty="0">
                <a:solidFill>
                  <a:srgbClr val="4DAFAA"/>
                </a:solidFill>
                <a:latin typeface="MicrosoftJhengHeiBold"/>
              </a:rPr>
              <a:t>SaaS …</a:t>
            </a:r>
            <a:endParaRPr lang="en-US" altLang="zh-TW" sz="1400" b="0" i="0" u="none" strike="noStrike" baseline="0" dirty="0">
              <a:solidFill>
                <a:srgbClr val="434343"/>
              </a:solidFill>
              <a:latin typeface="MicrosoftJhengHeiRegular"/>
            </a:endParaRPr>
          </a:p>
          <a:p>
            <a:pPr algn="l"/>
            <a:endParaRPr lang="en-US" altLang="zh-TW" dirty="0">
              <a:solidFill>
                <a:srgbClr val="434343"/>
              </a:solidFill>
              <a:latin typeface="MicrosoftJhengHeiRegular"/>
            </a:endParaRPr>
          </a:p>
          <a:p>
            <a:pPr algn="l"/>
            <a:endParaRPr lang="zh-TW" altLang="en-US" sz="1400" b="0" i="0" u="none" strike="noStrike" baseline="0" dirty="0">
              <a:solidFill>
                <a:srgbClr val="434343"/>
              </a:solidFill>
              <a:latin typeface="MicrosoftJhengHeiRegular"/>
            </a:endParaRPr>
          </a:p>
          <a:p>
            <a:pPr algn="l"/>
            <a:r>
              <a:rPr lang="zh-TW" altLang="en-US" sz="1400" b="0" i="0" u="none" strike="noStrike" baseline="0" dirty="0">
                <a:solidFill>
                  <a:srgbClr val="434343"/>
                </a:solidFill>
                <a:latin typeface="MicrosoftJhengHeiRegular"/>
              </a:rPr>
              <a:t>相關技術：</a:t>
            </a:r>
          </a:p>
          <a:p>
            <a:pPr algn="l"/>
            <a:r>
              <a:rPr lang="en-US" altLang="zh-TW" sz="1400" b="1" i="0" u="none" strike="noStrike" baseline="0" dirty="0">
                <a:solidFill>
                  <a:schemeClr val="accent3"/>
                </a:solidFill>
                <a:latin typeface="MicrosoftJhengHeiBold"/>
              </a:rPr>
              <a:t>Blockchain</a:t>
            </a:r>
            <a:r>
              <a:rPr lang="zh-TW" altLang="en-US" sz="1400" b="1" i="0" u="none" strike="noStrike" baseline="0" dirty="0">
                <a:solidFill>
                  <a:schemeClr val="accent3"/>
                </a:solidFill>
                <a:latin typeface="MicrosoftJhengHeiBold"/>
              </a:rPr>
              <a:t>、</a:t>
            </a:r>
            <a:r>
              <a:rPr lang="en-US" altLang="zh-TW" sz="1400" b="1" i="0" u="none" strike="noStrike" baseline="0" dirty="0">
                <a:solidFill>
                  <a:schemeClr val="accent3"/>
                </a:solidFill>
                <a:latin typeface="MicrosoftJhengHeiBold"/>
              </a:rPr>
              <a:t>AI</a:t>
            </a:r>
            <a:r>
              <a:rPr lang="zh-TW" altLang="en-US" sz="1400" b="1" i="0" u="none" strike="noStrike" baseline="0" dirty="0">
                <a:solidFill>
                  <a:schemeClr val="accent3"/>
                </a:solidFill>
                <a:latin typeface="MicrosoftJhengHeiBold"/>
              </a:rPr>
              <a:t>、</a:t>
            </a:r>
            <a:r>
              <a:rPr lang="en-US" altLang="zh-TW" sz="1400" b="1" i="0" u="none" strike="noStrike" baseline="0" dirty="0">
                <a:solidFill>
                  <a:schemeClr val="accent3"/>
                </a:solidFill>
                <a:latin typeface="MicrosoftJhengHeiBold"/>
              </a:rPr>
              <a:t>AR/VR</a:t>
            </a:r>
            <a:r>
              <a:rPr lang="zh-TW" altLang="en-US" sz="1400" b="1" i="0" u="none" strike="noStrike" baseline="0" dirty="0">
                <a:solidFill>
                  <a:schemeClr val="accent3"/>
                </a:solidFill>
                <a:latin typeface="MicrosoftJhengHeiBold"/>
              </a:rPr>
              <a:t>、</a:t>
            </a:r>
          </a:p>
          <a:p>
            <a:pPr algn="l"/>
            <a:r>
              <a:rPr lang="en-US" altLang="zh-TW" sz="1400" b="1" i="0" u="none" strike="noStrike" baseline="0" dirty="0">
                <a:solidFill>
                  <a:schemeClr val="accent3"/>
                </a:solidFill>
                <a:latin typeface="MicrosoftJhengHeiBold"/>
              </a:rPr>
              <a:t>IoT</a:t>
            </a:r>
            <a:r>
              <a:rPr lang="zh-TW" altLang="en-US" sz="1400" b="1" i="0" u="none" strike="noStrike" baseline="0" dirty="0">
                <a:solidFill>
                  <a:schemeClr val="accent3"/>
                </a:solidFill>
                <a:latin typeface="MicrosoftJhengHeiBold"/>
              </a:rPr>
              <a:t>、</a:t>
            </a:r>
            <a:r>
              <a:rPr lang="en-US" altLang="zh-TW" sz="1400" b="1" i="0" u="none" strike="noStrike" baseline="0" dirty="0">
                <a:solidFill>
                  <a:schemeClr val="accent3"/>
                </a:solidFill>
                <a:latin typeface="MicrosoftJhengHeiBold"/>
              </a:rPr>
              <a:t>Cloud </a:t>
            </a:r>
            <a:r>
              <a:rPr lang="en-US" altLang="zh-TW" dirty="0">
                <a:solidFill>
                  <a:schemeClr val="accent3"/>
                </a:solidFill>
                <a:latin typeface="MicrosoftJhengHeiRegular"/>
              </a:rPr>
              <a:t>…</a:t>
            </a:r>
            <a:endParaRPr lang="zh-TW" altLang="en-US" sz="1400" b="0" i="0" u="none" strike="noStrike" baseline="0" dirty="0">
              <a:solidFill>
                <a:schemeClr val="accent3"/>
              </a:solidFill>
              <a:latin typeface="MicrosoftJhengHeiRegular"/>
            </a:endParaRPr>
          </a:p>
        </p:txBody>
      </p:sp>
    </p:spTree>
    <p:extLst>
      <p:ext uri="{BB962C8B-B14F-4D97-AF65-F5344CB8AC3E}">
        <p14:creationId xmlns:p14="http://schemas.microsoft.com/office/powerpoint/2010/main" val="118004359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TW" dirty="0"/>
              <a:t>發展</a:t>
            </a:r>
            <a:r>
              <a:rPr lang="zh-TW" altLang="zh-TW" dirty="0"/>
              <a:t>策略</a:t>
            </a:r>
            <a:r>
              <a:rPr lang="zh-TW" altLang="en-US" dirty="0"/>
              <a:t>：</a:t>
            </a:r>
            <a:r>
              <a:rPr lang="en-US" altLang="zh-TW" dirty="0"/>
              <a:t>H3I</a:t>
            </a:r>
            <a:endParaRPr dirty="0"/>
          </a:p>
        </p:txBody>
      </p:sp>
      <p:sp>
        <p:nvSpPr>
          <p:cNvPr id="109" name="Google Shape;109;p18"/>
          <p:cNvSpPr txBox="1">
            <a:spLocks noGrp="1"/>
          </p:cNvSpPr>
          <p:nvPr>
            <p:ph type="body" idx="1"/>
          </p:nvPr>
        </p:nvSpPr>
        <p:spPr>
          <a:xfrm>
            <a:off x="311700" y="1386775"/>
            <a:ext cx="8520600" cy="353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3200" b="1" dirty="0"/>
              <a:t>H</a:t>
            </a:r>
            <a:r>
              <a:rPr lang="zh-TW" dirty="0"/>
              <a:t>uman-centric</a:t>
            </a:r>
            <a:r>
              <a:rPr lang="zh-TW" altLang="en-US" dirty="0"/>
              <a:t>：以人為本</a:t>
            </a:r>
            <a:endParaRPr lang="en-US" altLang="zh-TW" dirty="0"/>
          </a:p>
          <a:p>
            <a:pPr marL="0" lvl="0" indent="0" algn="l" rtl="0">
              <a:spcBef>
                <a:spcPts val="0"/>
              </a:spcBef>
              <a:spcAft>
                <a:spcPts val="0"/>
              </a:spcAft>
              <a:buNone/>
            </a:pPr>
            <a:r>
              <a:rPr lang="en-US" altLang="zh-TW" sz="3200" b="1" dirty="0"/>
              <a:t>I</a:t>
            </a:r>
            <a:r>
              <a:rPr lang="en-US" altLang="zh-TW" dirty="0"/>
              <a:t>ncubation</a:t>
            </a:r>
            <a:r>
              <a:rPr lang="zh-TW" altLang="en-US" dirty="0"/>
              <a:t>：輔導培育</a:t>
            </a:r>
            <a:r>
              <a:rPr lang="zh-TW" dirty="0"/>
              <a:t>創業團隊</a:t>
            </a:r>
            <a:endParaRPr lang="en-US" altLang="zh-TW" dirty="0"/>
          </a:p>
          <a:p>
            <a:pPr marL="0" lvl="0" indent="0" algn="l" rtl="0">
              <a:spcBef>
                <a:spcPts val="0"/>
              </a:spcBef>
              <a:spcAft>
                <a:spcPts val="0"/>
              </a:spcAft>
              <a:buNone/>
            </a:pPr>
            <a:r>
              <a:rPr lang="en-US" altLang="zh-TW" sz="3200" b="1" dirty="0"/>
              <a:t>I</a:t>
            </a:r>
            <a:r>
              <a:rPr lang="en-US" altLang="zh-TW" dirty="0"/>
              <a:t>ntegration</a:t>
            </a:r>
            <a:r>
              <a:rPr lang="zh-TW" altLang="en-US" dirty="0"/>
              <a:t>：</a:t>
            </a:r>
            <a:r>
              <a:rPr lang="zh-TW" dirty="0"/>
              <a:t>對接整合台大與外部單位的資源與機會</a:t>
            </a:r>
            <a:endParaRPr lang="en-US" altLang="zh-TW" dirty="0"/>
          </a:p>
          <a:p>
            <a:pPr marL="0" lvl="0" indent="0" algn="l" rtl="0">
              <a:spcBef>
                <a:spcPts val="0"/>
              </a:spcBef>
              <a:spcAft>
                <a:spcPts val="0"/>
              </a:spcAft>
              <a:buNone/>
            </a:pPr>
            <a:r>
              <a:rPr lang="zh-TW" altLang="zh-TW" sz="3200" b="1" dirty="0"/>
              <a:t>I</a:t>
            </a:r>
            <a:r>
              <a:rPr lang="zh-TW" altLang="zh-TW" dirty="0"/>
              <a:t>gnition</a:t>
            </a:r>
            <a:r>
              <a:rPr lang="zh-TW" altLang="en-US" dirty="0"/>
              <a:t>：</a:t>
            </a:r>
            <a:r>
              <a:rPr lang="zh-TW" dirty="0"/>
              <a:t>線上下曝光強化影響與吸引力，點火起飛</a:t>
            </a:r>
            <a:endParaRPr dirty="0"/>
          </a:p>
        </p:txBody>
      </p:sp>
      <p:sp>
        <p:nvSpPr>
          <p:cNvPr id="110" name="Google Shape;110;p18"/>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 name="投影片編號版面配置區 1">
            <a:extLst>
              <a:ext uri="{FF2B5EF4-FFF2-40B4-BE49-F238E27FC236}">
                <a16:creationId xmlns:a16="http://schemas.microsoft.com/office/drawing/2014/main" id="{557DEB0E-FAEE-46B6-8512-829ADAD8DB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5</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TW" dirty="0"/>
              <a:t>發展策略</a:t>
            </a:r>
            <a:r>
              <a:rPr lang="zh-TW" altLang="en-US" dirty="0"/>
              <a:t>：</a:t>
            </a:r>
            <a:r>
              <a:rPr lang="zh-TW" altLang="zh-TW" dirty="0"/>
              <a:t>Incubation</a:t>
            </a:r>
            <a:r>
              <a:rPr lang="zh-TW" altLang="en-US" dirty="0"/>
              <a:t> 輔導培育</a:t>
            </a:r>
            <a:endParaRPr dirty="0"/>
          </a:p>
        </p:txBody>
      </p:sp>
      <p:sp>
        <p:nvSpPr>
          <p:cNvPr id="116" name="Google Shape;116;p19"/>
          <p:cNvSpPr txBox="1">
            <a:spLocks noGrp="1"/>
          </p:cNvSpPr>
          <p:nvPr>
            <p:ph type="body" idx="1"/>
          </p:nvPr>
        </p:nvSpPr>
        <p:spPr>
          <a:xfrm>
            <a:off x="311700" y="1386775"/>
            <a:ext cx="8520600" cy="38583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AutoNum type="arabicPeriod"/>
            </a:pPr>
            <a:r>
              <a:rPr lang="zh-TW" dirty="0"/>
              <a:t>招募新創團隊進行</a:t>
            </a:r>
            <a:r>
              <a:rPr lang="zh-TW" altLang="en-US" dirty="0"/>
              <a:t>創業輔導培育</a:t>
            </a:r>
            <a:endParaRPr lang="en-US" altLang="zh-TW" dirty="0"/>
          </a:p>
          <a:p>
            <a:pPr lvl="1" indent="-368300">
              <a:buSzPts val="2200"/>
              <a:buFont typeface="Wingdings" panose="05000000000000000000" pitchFamily="2" charset="2"/>
              <a:buChar char="ü"/>
            </a:pPr>
            <a:r>
              <a:rPr lang="zh-TW" altLang="en-US" dirty="0"/>
              <a:t>創業必備基礎知識、募資簡報能力</a:t>
            </a:r>
            <a:endParaRPr lang="en-US" altLang="zh-TW" dirty="0"/>
          </a:p>
          <a:p>
            <a:pPr marL="457200" lvl="0" indent="-368300" algn="l" rtl="0">
              <a:spcBef>
                <a:spcPts val="0"/>
              </a:spcBef>
              <a:spcAft>
                <a:spcPts val="0"/>
              </a:spcAft>
              <a:buSzPts val="2200"/>
              <a:buAutoNum type="arabicPeriod"/>
            </a:pPr>
            <a:r>
              <a:rPr lang="zh-TW" altLang="en-US" dirty="0"/>
              <a:t>邀請各領域資深專家組成業師群</a:t>
            </a:r>
            <a:endParaRPr lang="en-US" altLang="zh-TW" dirty="0"/>
          </a:p>
          <a:p>
            <a:pPr lvl="1" indent="-368300">
              <a:buSzPts val="2200"/>
              <a:buFont typeface="Wingdings" panose="05000000000000000000" pitchFamily="2" charset="2"/>
              <a:buChar char="ü"/>
            </a:pPr>
            <a:r>
              <a:rPr lang="zh-TW" altLang="en-US" dirty="0"/>
              <a:t>提供新創團隊一對一諮詢輔導，協助拓展市場並陪伴成長</a:t>
            </a:r>
            <a:endParaRPr lang="en-US" altLang="zh-TW" dirty="0"/>
          </a:p>
          <a:p>
            <a:pPr marL="457200" lvl="0" indent="-368300" algn="l" rtl="0">
              <a:spcBef>
                <a:spcPts val="0"/>
              </a:spcBef>
              <a:spcAft>
                <a:spcPts val="0"/>
              </a:spcAft>
              <a:buSzPts val="2200"/>
              <a:buAutoNum type="arabicPeriod"/>
            </a:pPr>
            <a:r>
              <a:rPr lang="zh-TW" altLang="en-US" dirty="0"/>
              <a:t>創業家分享與交流活動</a:t>
            </a:r>
            <a:endParaRPr lang="en-US" altLang="zh-TW" dirty="0"/>
          </a:p>
          <a:p>
            <a:pPr lvl="1" indent="-368300">
              <a:buSzPts val="2200"/>
              <a:buFont typeface="Wingdings" panose="05000000000000000000" pitchFamily="2" charset="2"/>
              <a:buChar char="ü"/>
            </a:pPr>
            <a:r>
              <a:rPr lang="zh-TW" altLang="en-US" dirty="0"/>
              <a:t>社群與人脈建立，發掘潛在合作機會</a:t>
            </a:r>
            <a:endParaRPr lang="en-US" altLang="zh-TW" dirty="0"/>
          </a:p>
          <a:p>
            <a:pPr marL="457200" lvl="0" indent="-368300" algn="l" rtl="0">
              <a:spcBef>
                <a:spcPts val="0"/>
              </a:spcBef>
              <a:spcAft>
                <a:spcPts val="0"/>
              </a:spcAft>
              <a:buSzPts val="2200"/>
              <a:buAutoNum type="arabicPeriod"/>
            </a:pPr>
            <a:r>
              <a:rPr lang="zh-TW" dirty="0"/>
              <a:t>協助新創</a:t>
            </a:r>
            <a:r>
              <a:rPr lang="zh-TW" altLang="zh-TW" dirty="0"/>
              <a:t>團隊</a:t>
            </a:r>
            <a:r>
              <a:rPr lang="zh-TW" dirty="0"/>
              <a:t>徵才</a:t>
            </a:r>
            <a:endParaRPr lang="en-US" altLang="zh-TW" dirty="0"/>
          </a:p>
          <a:p>
            <a:pPr lvl="1" indent="-368300">
              <a:buSzPts val="2200"/>
              <a:buFont typeface="Wingdings" panose="05000000000000000000" pitchFamily="2" charset="2"/>
              <a:buChar char="ü"/>
            </a:pPr>
            <a:r>
              <a:rPr lang="zh-TW" altLang="en-US" dirty="0"/>
              <a:t>媒合台大人才</a:t>
            </a:r>
            <a:endParaRPr lang="en-US" altLang="zh-TW" dirty="0"/>
          </a:p>
          <a:p>
            <a:pPr>
              <a:buFont typeface="Heiti TC"/>
              <a:buAutoNum type="arabicPeriod"/>
            </a:pPr>
            <a:r>
              <a:rPr lang="zh-TW" altLang="en-US" dirty="0"/>
              <a:t>校友團隊離駐後的持續成長支持</a:t>
            </a:r>
            <a:endParaRPr lang="en-US" altLang="zh-TW" dirty="0"/>
          </a:p>
          <a:p>
            <a:pPr lvl="1">
              <a:buFont typeface="Wingdings" panose="05000000000000000000" pitchFamily="2" charset="2"/>
              <a:buChar char="ü"/>
            </a:pPr>
            <a:r>
              <a:rPr lang="zh-TW" altLang="en-US" dirty="0"/>
              <a:t>畢業後的輔導追蹤與資源對接服務</a:t>
            </a:r>
          </a:p>
        </p:txBody>
      </p:sp>
      <p:sp>
        <p:nvSpPr>
          <p:cNvPr id="117" name="Google Shape;117;p19"/>
          <p:cNvSpPr txBox="1">
            <a:spLocks noGrp="1"/>
          </p:cNvSpPr>
          <p:nvPr>
            <p:ph type="body" idx="4294967295"/>
          </p:nvPr>
        </p:nvSpPr>
        <p:spPr>
          <a:xfrm>
            <a:off x="9434875" y="1287800"/>
            <a:ext cx="4172400" cy="315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2" name="投影片編號版面配置區 1">
            <a:extLst>
              <a:ext uri="{FF2B5EF4-FFF2-40B4-BE49-F238E27FC236}">
                <a16:creationId xmlns:a16="http://schemas.microsoft.com/office/drawing/2014/main" id="{D15E02DA-746E-4087-A5E7-2AA11C1250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6</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TW" dirty="0"/>
              <a:t>發展策略</a:t>
            </a:r>
            <a:r>
              <a:rPr lang="zh-TW" altLang="en-US" dirty="0"/>
              <a:t>：</a:t>
            </a:r>
            <a:r>
              <a:rPr lang="zh-TW" dirty="0"/>
              <a:t>Integration</a:t>
            </a:r>
            <a:r>
              <a:rPr lang="zh-TW" altLang="en-US" dirty="0"/>
              <a:t> </a:t>
            </a:r>
            <a:r>
              <a:rPr lang="zh-TW" altLang="zh-TW" dirty="0"/>
              <a:t>對接整合</a:t>
            </a:r>
            <a:endParaRPr dirty="0"/>
          </a:p>
        </p:txBody>
      </p:sp>
      <p:sp>
        <p:nvSpPr>
          <p:cNvPr id="123" name="Google Shape;123;p20"/>
          <p:cNvSpPr txBox="1">
            <a:spLocks noGrp="1"/>
          </p:cNvSpPr>
          <p:nvPr>
            <p:ph type="body" idx="1"/>
          </p:nvPr>
        </p:nvSpPr>
        <p:spPr>
          <a:xfrm>
            <a:off x="311700" y="1386775"/>
            <a:ext cx="8520600" cy="36480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AutoNum type="arabicPeriod"/>
            </a:pPr>
            <a:r>
              <a:rPr lang="zh-TW" altLang="en-US" dirty="0"/>
              <a:t>整合台大內部資源</a:t>
            </a:r>
            <a:endParaRPr lang="en-US" altLang="zh-TW" dirty="0"/>
          </a:p>
          <a:p>
            <a:pPr lvl="1" indent="-368300">
              <a:buSzPts val="2200"/>
              <a:buFont typeface="Wingdings" panose="05000000000000000000" pitchFamily="2" charset="2"/>
              <a:buChar char="ü"/>
            </a:pPr>
            <a:r>
              <a:rPr lang="zh-TW" altLang="en-US" dirty="0"/>
              <a:t>串聯創創學程、</a:t>
            </a:r>
            <a:r>
              <a:rPr lang="en-US" altLang="zh-TW" dirty="0" err="1"/>
              <a:t>EiMBA</a:t>
            </a:r>
            <a:r>
              <a:rPr lang="zh-TW" altLang="en-US" dirty="0"/>
              <a:t>學生創意及其他創新創業課程，開放學生團隊申請進駐台大車庫，促進創業實踐</a:t>
            </a:r>
            <a:endParaRPr lang="en-US" altLang="zh-TW" dirty="0"/>
          </a:p>
          <a:p>
            <a:pPr lvl="1" indent="-368300">
              <a:buSzPts val="2200"/>
              <a:buFont typeface="Wingdings" panose="05000000000000000000" pitchFamily="2" charset="2"/>
              <a:buChar char="ü"/>
            </a:pPr>
            <a:r>
              <a:rPr lang="zh-TW" dirty="0"/>
              <a:t>主動邀請教授</a:t>
            </a:r>
            <a:r>
              <a:rPr lang="zh-TW" altLang="en-US" dirty="0"/>
              <a:t>及研究</a:t>
            </a:r>
            <a:r>
              <a:rPr lang="zh-TW" dirty="0"/>
              <a:t>團隊入駐</a:t>
            </a:r>
            <a:r>
              <a:rPr lang="zh-TW" altLang="en-US" dirty="0"/>
              <a:t>，協助研發成果商化</a:t>
            </a:r>
            <a:endParaRPr dirty="0"/>
          </a:p>
          <a:p>
            <a:pPr marL="457200" lvl="0" indent="-368300" algn="l" rtl="0">
              <a:spcBef>
                <a:spcPts val="0"/>
              </a:spcBef>
              <a:spcAft>
                <a:spcPts val="0"/>
              </a:spcAft>
              <a:buSzPts val="2200"/>
              <a:buAutoNum type="arabicPeriod"/>
            </a:pPr>
            <a:r>
              <a:rPr lang="zh-TW" altLang="zh-TW" dirty="0"/>
              <a:t>對接</a:t>
            </a:r>
            <a:r>
              <a:rPr lang="zh-TW" dirty="0"/>
              <a:t>外部</a:t>
            </a:r>
            <a:r>
              <a:rPr lang="zh-TW" altLang="en-US" dirty="0"/>
              <a:t>資源</a:t>
            </a:r>
            <a:endParaRPr lang="en-US" altLang="zh-TW" dirty="0"/>
          </a:p>
          <a:p>
            <a:pPr lvl="1" indent="-368300">
              <a:buSzPts val="2200"/>
              <a:buFont typeface="Wingdings" panose="05000000000000000000" pitchFamily="2" charset="2"/>
              <a:buChar char="ü"/>
            </a:pPr>
            <a:r>
              <a:rPr lang="zh-TW" altLang="en-US" dirty="0"/>
              <a:t>協助新創團隊進行市場落地驗證</a:t>
            </a:r>
            <a:endParaRPr lang="en-US" altLang="zh-TW" dirty="0"/>
          </a:p>
          <a:p>
            <a:pPr lvl="1" indent="-368300">
              <a:buSzPts val="2200"/>
              <a:buFont typeface="Wingdings" panose="05000000000000000000" pitchFamily="2" charset="2"/>
              <a:buChar char="ü"/>
            </a:pPr>
            <a:r>
              <a:rPr lang="zh-TW" altLang="en-US" dirty="0"/>
              <a:t>協助企業發掘並對接台灣具潛力的新創團隊</a:t>
            </a:r>
            <a:endParaRPr lang="en-US" altLang="zh-TW" dirty="0"/>
          </a:p>
          <a:p>
            <a:pPr lvl="1" indent="-368300">
              <a:buSzPts val="2200"/>
              <a:buFont typeface="Wingdings" panose="05000000000000000000" pitchFamily="2" charset="2"/>
              <a:buChar char="ü"/>
            </a:pPr>
            <a:r>
              <a:rPr lang="zh-TW" altLang="en-US" dirty="0"/>
              <a:t>為進駐團隊搭建與外部投資人、天使、創投、及企業聯繫橋梁</a:t>
            </a:r>
            <a:endParaRPr lang="en-US" altLang="zh-TW" dirty="0"/>
          </a:p>
          <a:p>
            <a:pPr lvl="1" indent="-368300">
              <a:buSzPts val="2200"/>
              <a:buFont typeface="Wingdings" panose="05000000000000000000" pitchFamily="2" charset="2"/>
              <a:buChar char="ü"/>
            </a:pPr>
            <a:r>
              <a:rPr lang="zh-TW" altLang="en-US" dirty="0"/>
              <a:t>協助企業進行內部創新</a:t>
            </a:r>
            <a:endParaRPr lang="en-US" altLang="zh-TW" dirty="0"/>
          </a:p>
          <a:p>
            <a:pPr lvl="1" indent="-368300">
              <a:buSzPts val="2200"/>
              <a:buFont typeface="Wingdings" panose="05000000000000000000" pitchFamily="2" charset="2"/>
              <a:buChar char="ü"/>
            </a:pPr>
            <a:r>
              <a:rPr lang="zh-TW" altLang="en-US" dirty="0"/>
              <a:t>對接外部新創組織，協助進駐團隊與外部組織</a:t>
            </a:r>
            <a:r>
              <a:rPr lang="en-US" altLang="zh-TW" dirty="0"/>
              <a:t>/</a:t>
            </a:r>
            <a:r>
              <a:rPr lang="zh-TW" altLang="en-US" dirty="0"/>
              <a:t>團隊合作</a:t>
            </a:r>
            <a:endParaRPr lang="en-US" altLang="zh-TW" dirty="0"/>
          </a:p>
        </p:txBody>
      </p:sp>
      <p:sp>
        <p:nvSpPr>
          <p:cNvPr id="124" name="Google Shape;124;p20"/>
          <p:cNvSpPr txBox="1"/>
          <p:nvPr/>
        </p:nvSpPr>
        <p:spPr>
          <a:xfrm>
            <a:off x="9782025" y="42332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 name="投影片編號版面配置區 1">
            <a:extLst>
              <a:ext uri="{FF2B5EF4-FFF2-40B4-BE49-F238E27FC236}">
                <a16:creationId xmlns:a16="http://schemas.microsoft.com/office/drawing/2014/main" id="{82E17E89-B09A-479D-92BA-95C9F6892B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7</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1622800" y="501975"/>
            <a:ext cx="7341906" cy="707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TW" dirty="0"/>
              <a:t>發展策略</a:t>
            </a:r>
            <a:r>
              <a:rPr lang="zh-TW" altLang="en-US" dirty="0"/>
              <a:t>：</a:t>
            </a:r>
            <a:r>
              <a:rPr lang="zh-TW" dirty="0"/>
              <a:t> Ignition</a:t>
            </a:r>
            <a:r>
              <a:rPr lang="zh-TW" altLang="en-US" dirty="0"/>
              <a:t> 點火起飛</a:t>
            </a:r>
            <a:endParaRPr dirty="0"/>
          </a:p>
        </p:txBody>
      </p:sp>
      <p:sp>
        <p:nvSpPr>
          <p:cNvPr id="130" name="Google Shape;130;p21"/>
          <p:cNvSpPr txBox="1">
            <a:spLocks noGrp="1"/>
          </p:cNvSpPr>
          <p:nvPr>
            <p:ph type="body" idx="1"/>
          </p:nvPr>
        </p:nvSpPr>
        <p:spPr>
          <a:xfrm>
            <a:off x="311700" y="1386775"/>
            <a:ext cx="8520600" cy="37566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AutoNum type="arabicPeriod"/>
            </a:pPr>
            <a:r>
              <a:rPr lang="zh-TW" dirty="0"/>
              <a:t>提供團隊曝光機會</a:t>
            </a:r>
            <a:endParaRPr dirty="0"/>
          </a:p>
          <a:p>
            <a:pPr lvl="1">
              <a:buFont typeface="Wingdings" panose="05000000000000000000" pitchFamily="2" charset="2"/>
              <a:buChar char="ü"/>
            </a:pPr>
            <a:r>
              <a:rPr lang="zh-TW" dirty="0"/>
              <a:t>Demo Day：潛力新創團隊</a:t>
            </a:r>
            <a:r>
              <a:rPr lang="zh-TW" altLang="en-US" dirty="0"/>
              <a:t>展示創意與成果，吸引投資者、企業及市場關注</a:t>
            </a:r>
            <a:endParaRPr dirty="0"/>
          </a:p>
          <a:p>
            <a:pPr marL="457200" lvl="0" indent="-368300" algn="l" rtl="0">
              <a:spcBef>
                <a:spcPts val="0"/>
              </a:spcBef>
              <a:spcAft>
                <a:spcPts val="0"/>
              </a:spcAft>
              <a:buSzPts val="2200"/>
              <a:buAutoNum type="arabicPeriod"/>
            </a:pPr>
            <a:r>
              <a:rPr lang="zh-TW" altLang="en-US" dirty="0"/>
              <a:t>投資媒合</a:t>
            </a:r>
            <a:endParaRPr lang="en-US" altLang="zh-TW" dirty="0"/>
          </a:p>
          <a:p>
            <a:pPr marL="831850" lvl="1" indent="-285750">
              <a:buSzPts val="2200"/>
              <a:buFont typeface="Wingdings" panose="05000000000000000000" pitchFamily="2" charset="2"/>
              <a:buChar char="ü"/>
            </a:pPr>
            <a:r>
              <a:rPr lang="zh-TW" altLang="en-US" dirty="0"/>
              <a:t>積極協助團隊尋找潛在合作夥伴與投資者，包括策略型投資者</a:t>
            </a:r>
            <a:endParaRPr lang="en-US" altLang="zh-TW" dirty="0"/>
          </a:p>
          <a:p>
            <a:pPr marL="457200" lvl="0" indent="-368300" algn="l" rtl="0">
              <a:spcBef>
                <a:spcPts val="0"/>
              </a:spcBef>
              <a:spcAft>
                <a:spcPts val="0"/>
              </a:spcAft>
              <a:buSzPts val="2200"/>
              <a:buAutoNum type="arabicPeriod"/>
            </a:pPr>
            <a:r>
              <a:rPr lang="zh-TW" dirty="0"/>
              <a:t>創新倡議</a:t>
            </a:r>
            <a:endParaRPr lang="en-US" altLang="zh-TW" dirty="0"/>
          </a:p>
          <a:p>
            <a:pPr lvl="1">
              <a:buFont typeface="Wingdings" panose="05000000000000000000" pitchFamily="2" charset="2"/>
              <a:buChar char="ü"/>
            </a:pPr>
            <a:r>
              <a:rPr lang="zh-TW" altLang="en-US" dirty="0"/>
              <a:t>積極倡導創新創業文化，提升台灣創新創業氛圍，善盡大學社會責任</a:t>
            </a:r>
            <a:endParaRPr lang="en-US" altLang="zh-TW" dirty="0"/>
          </a:p>
          <a:p>
            <a:pPr>
              <a:buFont typeface="Heiti TC"/>
              <a:buAutoNum type="arabicPeriod"/>
            </a:pPr>
            <a:r>
              <a:rPr lang="zh-TW" altLang="en-US" dirty="0"/>
              <a:t>品牌</a:t>
            </a:r>
            <a:r>
              <a:rPr lang="zh-TW" altLang="zh-TW" dirty="0"/>
              <a:t>經營</a:t>
            </a:r>
            <a:r>
              <a:rPr lang="zh-TW" altLang="en-US" dirty="0"/>
              <a:t>與影響力提升</a:t>
            </a:r>
            <a:endParaRPr lang="en-US" altLang="zh-TW" dirty="0"/>
          </a:p>
          <a:p>
            <a:pPr lvl="1" algn="l" rtl="0">
              <a:spcBef>
                <a:spcPts val="0"/>
              </a:spcBef>
              <a:spcAft>
                <a:spcPts val="0"/>
              </a:spcAft>
              <a:buSzPts val="1800"/>
              <a:buFont typeface="Wingdings" panose="05000000000000000000" pitchFamily="2" charset="2"/>
              <a:buChar char="ü"/>
            </a:pPr>
            <a:r>
              <a:rPr lang="zh-TW" altLang="en-US" dirty="0"/>
              <a:t>舉辦具規模與影響力的創新論壇與創新創業嘉年華，吸引國內外關注</a:t>
            </a:r>
            <a:endParaRPr lang="en-US" altLang="zh-TW" dirty="0"/>
          </a:p>
          <a:p>
            <a:pPr lvl="1" algn="l" rtl="0">
              <a:spcBef>
                <a:spcPts val="0"/>
              </a:spcBef>
              <a:spcAft>
                <a:spcPts val="0"/>
              </a:spcAft>
              <a:buSzPts val="1800"/>
              <a:buFont typeface="Wingdings" panose="05000000000000000000" pitchFamily="2" charset="2"/>
              <a:buChar char="ü"/>
            </a:pPr>
            <a:r>
              <a:rPr lang="zh-TW" altLang="en-US" dirty="0"/>
              <a:t>強化社群經營，透過多元管道協助新創團隊曝光</a:t>
            </a:r>
            <a:endParaRPr lang="en-US" altLang="zh-TW" dirty="0"/>
          </a:p>
        </p:txBody>
      </p:sp>
      <p:sp>
        <p:nvSpPr>
          <p:cNvPr id="2" name="投影片編號版面配置區 1">
            <a:extLst>
              <a:ext uri="{FF2B5EF4-FFF2-40B4-BE49-F238E27FC236}">
                <a16:creationId xmlns:a16="http://schemas.microsoft.com/office/drawing/2014/main" id="{3E6C6F23-5DEC-42C4-95D8-CBE64301C4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8</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1C0686-7189-4B60-97AD-B59BE88B7648}"/>
              </a:ext>
            </a:extLst>
          </p:cNvPr>
          <p:cNvSpPr>
            <a:spLocks noGrp="1"/>
          </p:cNvSpPr>
          <p:nvPr>
            <p:ph type="title"/>
          </p:nvPr>
        </p:nvSpPr>
        <p:spPr/>
        <p:txBody>
          <a:bodyPr>
            <a:normAutofit fontScale="90000"/>
          </a:bodyPr>
          <a:lstStyle/>
          <a:p>
            <a:r>
              <a:rPr lang="zh-TW" altLang="zh-TW" sz="2700" dirty="0">
                <a:solidFill>
                  <a:schemeClr val="tx1">
                    <a:lumMod val="75000"/>
                  </a:schemeClr>
                </a:solidFill>
              </a:rPr>
              <a:t>202</a:t>
            </a:r>
            <a:r>
              <a:rPr lang="en-US" altLang="zh-TW" sz="2700" dirty="0">
                <a:solidFill>
                  <a:schemeClr val="tx1">
                    <a:lumMod val="75000"/>
                  </a:schemeClr>
                </a:solidFill>
              </a:rPr>
              <a:t>5-2027</a:t>
            </a:r>
            <a:r>
              <a:rPr lang="zh-TW" altLang="zh-TW" sz="2700" dirty="0">
                <a:solidFill>
                  <a:schemeClr val="tx1">
                    <a:lumMod val="75000"/>
                  </a:schemeClr>
                </a:solidFill>
              </a:rPr>
              <a:t>工作重點</a:t>
            </a:r>
            <a:r>
              <a:rPr lang="zh-TW" altLang="en-US" sz="2700" dirty="0">
                <a:solidFill>
                  <a:schemeClr val="tx1">
                    <a:lumMod val="75000"/>
                  </a:schemeClr>
                </a:solidFill>
              </a:rPr>
              <a:t>：</a:t>
            </a:r>
            <a:r>
              <a:rPr lang="zh-TW" altLang="en-US" dirty="0"/>
              <a:t>強化校內資源整合串接</a:t>
            </a:r>
          </a:p>
        </p:txBody>
      </p:sp>
      <p:sp>
        <p:nvSpPr>
          <p:cNvPr id="3" name="投影片編號版面配置區 2">
            <a:extLst>
              <a:ext uri="{FF2B5EF4-FFF2-40B4-BE49-F238E27FC236}">
                <a16:creationId xmlns:a16="http://schemas.microsoft.com/office/drawing/2014/main" id="{3F5BBF73-58EA-48BF-9791-618A9294D0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9</a:t>
            </a:fld>
            <a:endParaRPr lang="zh-TW" altLang="en-US"/>
          </a:p>
        </p:txBody>
      </p:sp>
      <p:pic>
        <p:nvPicPr>
          <p:cNvPr id="1036" name="Picture 12" descr="Alpha Team">
            <a:hlinkClick r:id="rId2"/>
            <a:extLst>
              <a:ext uri="{FF2B5EF4-FFF2-40B4-BE49-F238E27FC236}">
                <a16:creationId xmlns:a16="http://schemas.microsoft.com/office/drawing/2014/main" id="{085A3A48-496C-4393-8DDE-2BDD46D3F0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521" y="1919206"/>
            <a:ext cx="2415885" cy="679646"/>
          </a:xfrm>
          <a:prstGeom prst="rect">
            <a:avLst/>
          </a:prstGeom>
          <a:noFill/>
          <a:extLst>
            <a:ext uri="{909E8E84-426E-40DD-AFC4-6F175D3DCCD1}">
              <a14:hiddenFill xmlns:a14="http://schemas.microsoft.com/office/drawing/2010/main">
                <a:solidFill>
                  <a:srgbClr val="FFFFFF"/>
                </a:solidFill>
              </a14:hiddenFill>
            </a:ext>
          </a:extLst>
        </p:spPr>
      </p:pic>
      <p:pic>
        <p:nvPicPr>
          <p:cNvPr id="10" name="圖片 9">
            <a:hlinkClick r:id="rId4"/>
            <a:extLst>
              <a:ext uri="{FF2B5EF4-FFF2-40B4-BE49-F238E27FC236}">
                <a16:creationId xmlns:a16="http://schemas.microsoft.com/office/drawing/2014/main" id="{F3509D42-7D5F-4E17-889A-A67A932B5E6D}"/>
              </a:ext>
            </a:extLst>
          </p:cNvPr>
          <p:cNvPicPr>
            <a:picLocks noChangeAspect="1"/>
          </p:cNvPicPr>
          <p:nvPr/>
        </p:nvPicPr>
        <p:blipFill>
          <a:blip r:embed="rId5"/>
          <a:stretch>
            <a:fillRect/>
          </a:stretch>
        </p:blipFill>
        <p:spPr>
          <a:xfrm>
            <a:off x="857729" y="1853866"/>
            <a:ext cx="1896316" cy="1082429"/>
          </a:xfrm>
          <a:prstGeom prst="rect">
            <a:avLst/>
          </a:prstGeom>
        </p:spPr>
      </p:pic>
      <p:pic>
        <p:nvPicPr>
          <p:cNvPr id="12" name="圖片 11">
            <a:hlinkClick r:id="rId6"/>
            <a:extLst>
              <a:ext uri="{FF2B5EF4-FFF2-40B4-BE49-F238E27FC236}">
                <a16:creationId xmlns:a16="http://schemas.microsoft.com/office/drawing/2014/main" id="{EE22E21F-C66C-4FB0-A788-6311F0DD3E4E}"/>
              </a:ext>
            </a:extLst>
          </p:cNvPr>
          <p:cNvPicPr>
            <a:picLocks noChangeAspect="1"/>
          </p:cNvPicPr>
          <p:nvPr/>
        </p:nvPicPr>
        <p:blipFill>
          <a:blip r:embed="rId7"/>
          <a:stretch>
            <a:fillRect/>
          </a:stretch>
        </p:blipFill>
        <p:spPr>
          <a:xfrm>
            <a:off x="1722217" y="3308683"/>
            <a:ext cx="2351962" cy="713449"/>
          </a:xfrm>
          <a:prstGeom prst="rect">
            <a:avLst/>
          </a:prstGeom>
        </p:spPr>
      </p:pic>
      <p:pic>
        <p:nvPicPr>
          <p:cNvPr id="1038" name="Picture 14" descr="Executive Master of Business Administration Program (EMBA) / 管理學院碩士在職專班(EMBA )">
            <a:hlinkClick r:id="rId8"/>
            <a:extLst>
              <a:ext uri="{FF2B5EF4-FFF2-40B4-BE49-F238E27FC236}">
                <a16:creationId xmlns:a16="http://schemas.microsoft.com/office/drawing/2014/main" id="{F453DAF1-154C-48E8-8A90-EB0C15C0F1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3590493"/>
            <a:ext cx="2187014" cy="676675"/>
          </a:xfrm>
          <a:prstGeom prst="rect">
            <a:avLst/>
          </a:prstGeom>
          <a:noFill/>
          <a:extLst>
            <a:ext uri="{909E8E84-426E-40DD-AFC4-6F175D3DCCD1}">
              <a14:hiddenFill xmlns:a14="http://schemas.microsoft.com/office/drawing/2010/main">
                <a:solidFill>
                  <a:srgbClr val="FFFFFF"/>
                </a:solidFill>
              </a14:hiddenFill>
            </a:ext>
          </a:extLst>
        </p:spPr>
      </p:pic>
      <p:pic>
        <p:nvPicPr>
          <p:cNvPr id="14" name="圖片 13">
            <a:hlinkClick r:id="rId10"/>
            <a:extLst>
              <a:ext uri="{FF2B5EF4-FFF2-40B4-BE49-F238E27FC236}">
                <a16:creationId xmlns:a16="http://schemas.microsoft.com/office/drawing/2014/main" id="{048F7965-EB55-49F1-8060-538C6F7D76AE}"/>
              </a:ext>
            </a:extLst>
          </p:cNvPr>
          <p:cNvPicPr>
            <a:picLocks noChangeAspect="1"/>
          </p:cNvPicPr>
          <p:nvPr/>
        </p:nvPicPr>
        <p:blipFill>
          <a:blip r:embed="rId11"/>
          <a:stretch>
            <a:fillRect/>
          </a:stretch>
        </p:blipFill>
        <p:spPr>
          <a:xfrm>
            <a:off x="6759014" y="2801768"/>
            <a:ext cx="2114968" cy="585810"/>
          </a:xfrm>
          <a:prstGeom prst="rect">
            <a:avLst/>
          </a:prstGeom>
        </p:spPr>
      </p:pic>
    </p:spTree>
    <p:extLst>
      <p:ext uri="{BB962C8B-B14F-4D97-AF65-F5344CB8AC3E}">
        <p14:creationId xmlns:p14="http://schemas.microsoft.com/office/powerpoint/2010/main" val="19447912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1E0657-0644-46A0-A2EB-12DF455097C3}"/>
              </a:ext>
            </a:extLst>
          </p:cNvPr>
          <p:cNvSpPr>
            <a:spLocks noGrp="1"/>
          </p:cNvSpPr>
          <p:nvPr>
            <p:ph type="title"/>
          </p:nvPr>
        </p:nvSpPr>
        <p:spPr/>
        <p:txBody>
          <a:bodyPr>
            <a:normAutofit/>
          </a:bodyPr>
          <a:lstStyle/>
          <a:p>
            <a:r>
              <a:rPr lang="zh-TW" altLang="zh-TW" sz="2700" dirty="0">
                <a:solidFill>
                  <a:schemeClr val="tx1">
                    <a:lumMod val="75000"/>
                  </a:schemeClr>
                </a:solidFill>
              </a:rPr>
              <a:t>202</a:t>
            </a:r>
            <a:r>
              <a:rPr lang="en-US" altLang="zh-TW" sz="2700" dirty="0">
                <a:solidFill>
                  <a:schemeClr val="tx1">
                    <a:lumMod val="75000"/>
                  </a:schemeClr>
                </a:solidFill>
              </a:rPr>
              <a:t>5-2027</a:t>
            </a:r>
            <a:r>
              <a:rPr lang="zh-TW" altLang="zh-TW" sz="2700" dirty="0">
                <a:solidFill>
                  <a:schemeClr val="tx1">
                    <a:lumMod val="75000"/>
                  </a:schemeClr>
                </a:solidFill>
              </a:rPr>
              <a:t>工作重點</a:t>
            </a:r>
            <a:r>
              <a:rPr lang="zh-TW" altLang="en-US" sz="2700" dirty="0">
                <a:solidFill>
                  <a:schemeClr val="tx1">
                    <a:lumMod val="75000"/>
                  </a:schemeClr>
                </a:solidFill>
              </a:rPr>
              <a:t>：</a:t>
            </a:r>
            <a:r>
              <a:rPr lang="zh-TW" altLang="en-US" dirty="0"/>
              <a:t>提高師生創業意願</a:t>
            </a:r>
          </a:p>
        </p:txBody>
      </p:sp>
      <p:sp>
        <p:nvSpPr>
          <p:cNvPr id="3" name="投影片編號版面配置區 2">
            <a:extLst>
              <a:ext uri="{FF2B5EF4-FFF2-40B4-BE49-F238E27FC236}">
                <a16:creationId xmlns:a16="http://schemas.microsoft.com/office/drawing/2014/main" id="{3598C0E5-6366-4FCC-9EFC-4B2152F399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10</a:t>
            </a:fld>
            <a:endParaRPr lang="zh-TW" altLang="en-US"/>
          </a:p>
        </p:txBody>
      </p:sp>
      <p:sp>
        <p:nvSpPr>
          <p:cNvPr id="4" name="文字版面配置區 3">
            <a:extLst>
              <a:ext uri="{FF2B5EF4-FFF2-40B4-BE49-F238E27FC236}">
                <a16:creationId xmlns:a16="http://schemas.microsoft.com/office/drawing/2014/main" id="{AAF5EC0C-3315-4AF4-8CEE-5275ADF3C6FD}"/>
              </a:ext>
            </a:extLst>
          </p:cNvPr>
          <p:cNvSpPr>
            <a:spLocks noGrp="1"/>
          </p:cNvSpPr>
          <p:nvPr>
            <p:ph type="body" idx="1"/>
          </p:nvPr>
        </p:nvSpPr>
        <p:spPr>
          <a:xfrm>
            <a:off x="226208" y="1209375"/>
            <a:ext cx="8520600" cy="3156000"/>
          </a:xfrm>
        </p:spPr>
        <p:txBody>
          <a:bodyPr>
            <a:noAutofit/>
          </a:bodyPr>
          <a:lstStyle/>
          <a:p>
            <a:pPr marL="546100" indent="-457200">
              <a:buFont typeface="+mj-lt"/>
              <a:buAutoNum type="arabicPeriod"/>
            </a:pPr>
            <a:r>
              <a:rPr lang="zh-TW" altLang="en-US" sz="2000" dirty="0"/>
              <a:t>典範激勵</a:t>
            </a:r>
            <a:endParaRPr lang="en-US" altLang="zh-TW" sz="2000" dirty="0"/>
          </a:p>
          <a:p>
            <a:pPr lvl="1">
              <a:buFont typeface="Wingdings" panose="05000000000000000000" pitchFamily="2" charset="2"/>
              <a:buChar char="ü"/>
            </a:pPr>
            <a:r>
              <a:rPr lang="zh-TW" altLang="en-US" dirty="0"/>
              <a:t>邀請成功創業者分享，展現創業價值與可能性，激發師生創業熱情</a:t>
            </a:r>
            <a:endParaRPr lang="en-US" altLang="zh-TW" dirty="0"/>
          </a:p>
          <a:p>
            <a:pPr marL="546100" indent="-457200">
              <a:buFont typeface="+mj-lt"/>
              <a:buAutoNum type="arabicPeriod"/>
            </a:pPr>
            <a:r>
              <a:rPr lang="zh-TW" altLang="en-US" sz="2000" dirty="0"/>
              <a:t>創業輔導</a:t>
            </a:r>
            <a:endParaRPr lang="en-US" altLang="zh-TW" sz="2000" dirty="0"/>
          </a:p>
          <a:p>
            <a:pPr lvl="1">
              <a:buFont typeface="Wingdings" panose="05000000000000000000" pitchFamily="2" charset="2"/>
              <a:buChar char="ü"/>
            </a:pPr>
            <a:r>
              <a:rPr lang="zh-TW" altLang="en-US" dirty="0"/>
              <a:t>提供多元化且針對不同學科或創業階段的輔導課程</a:t>
            </a:r>
            <a:endParaRPr lang="en-US" altLang="zh-TW" dirty="0"/>
          </a:p>
          <a:p>
            <a:pPr lvl="1">
              <a:buFont typeface="Wingdings" panose="05000000000000000000" pitchFamily="2" charset="2"/>
              <a:buChar char="ü"/>
            </a:pPr>
            <a:r>
              <a:rPr lang="zh-TW" altLang="en-US" dirty="0"/>
              <a:t>建立專業輔導資源網絡，提供包括法務、財務、行銷等多方面的專家諮詢</a:t>
            </a:r>
            <a:endParaRPr lang="en-US" altLang="zh-TW" dirty="0"/>
          </a:p>
          <a:p>
            <a:pPr marL="546100" indent="-457200">
              <a:buFont typeface="+mj-lt"/>
              <a:buAutoNum type="arabicPeriod"/>
            </a:pPr>
            <a:r>
              <a:rPr lang="zh-TW" altLang="en-US" sz="2000" dirty="0"/>
              <a:t>多元化的資金支持</a:t>
            </a:r>
            <a:endParaRPr lang="en-US" altLang="zh-TW" sz="2000" dirty="0"/>
          </a:p>
          <a:p>
            <a:pPr lvl="1">
              <a:buFont typeface="Wingdings" panose="05000000000000000000" pitchFamily="2" charset="2"/>
              <a:buChar char="ü"/>
            </a:pPr>
            <a:r>
              <a:rPr lang="zh-TW" altLang="en-US" dirty="0"/>
              <a:t>引入天使投資人、創投基金及企業策略型投資者，提供多樣性的資金支持</a:t>
            </a:r>
          </a:p>
          <a:p>
            <a:pPr marL="546100" indent="-457200">
              <a:buFont typeface="+mj-lt"/>
              <a:buAutoNum type="arabicPeriod"/>
            </a:pPr>
            <a:r>
              <a:rPr lang="zh-TW" altLang="en-US" sz="2000" dirty="0"/>
              <a:t>媒合新創與企業合作</a:t>
            </a:r>
            <a:endParaRPr lang="en-US" altLang="zh-TW" sz="2000" dirty="0"/>
          </a:p>
          <a:p>
            <a:pPr lvl="1">
              <a:buFont typeface="Wingdings" panose="05000000000000000000" pitchFamily="2" charset="2"/>
              <a:buChar char="ü"/>
            </a:pPr>
            <a:r>
              <a:rPr lang="zh-TW" altLang="en-US" dirty="0"/>
              <a:t>協助新創團隊對接企業資源，包括產品驗證、市場導入、技術合作等，為雙方創造共贏價值</a:t>
            </a:r>
            <a:endParaRPr lang="en-US" altLang="zh-TW" dirty="0"/>
          </a:p>
        </p:txBody>
      </p:sp>
    </p:spTree>
    <p:extLst>
      <p:ext uri="{BB962C8B-B14F-4D97-AF65-F5344CB8AC3E}">
        <p14:creationId xmlns:p14="http://schemas.microsoft.com/office/powerpoint/2010/main" val="57132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236B8-7977-4989-B1CF-3BCB278681EA}"/>
              </a:ext>
            </a:extLst>
          </p:cNvPr>
          <p:cNvSpPr>
            <a:spLocks noGrp="1"/>
          </p:cNvSpPr>
          <p:nvPr>
            <p:ph type="title"/>
          </p:nvPr>
        </p:nvSpPr>
        <p:spPr/>
        <p:txBody>
          <a:bodyPr>
            <a:normAutofit fontScale="90000"/>
          </a:bodyPr>
          <a:lstStyle/>
          <a:p>
            <a:r>
              <a:rPr lang="zh-TW" altLang="zh-TW" sz="2700" dirty="0">
                <a:solidFill>
                  <a:schemeClr val="tx1">
                    <a:lumMod val="75000"/>
                  </a:schemeClr>
                </a:solidFill>
              </a:rPr>
              <a:t>202</a:t>
            </a:r>
            <a:r>
              <a:rPr lang="en-US" altLang="zh-TW" sz="2700" dirty="0">
                <a:solidFill>
                  <a:schemeClr val="tx1">
                    <a:lumMod val="75000"/>
                  </a:schemeClr>
                </a:solidFill>
              </a:rPr>
              <a:t>5-2027</a:t>
            </a:r>
            <a:r>
              <a:rPr lang="zh-TW" altLang="zh-TW" sz="2700" dirty="0">
                <a:solidFill>
                  <a:schemeClr val="tx1">
                    <a:lumMod val="75000"/>
                  </a:schemeClr>
                </a:solidFill>
              </a:rPr>
              <a:t>工作重點</a:t>
            </a:r>
            <a:r>
              <a:rPr lang="zh-TW" altLang="en-US" sz="2700" dirty="0"/>
              <a:t>：</a:t>
            </a:r>
            <a:r>
              <a:rPr lang="zh-TW" altLang="en-US" dirty="0"/>
              <a:t>強化中心與台灣創新創業生態圈的連結</a:t>
            </a:r>
          </a:p>
        </p:txBody>
      </p:sp>
      <p:sp>
        <p:nvSpPr>
          <p:cNvPr id="3" name="投影片編號版面配置區 2">
            <a:extLst>
              <a:ext uri="{FF2B5EF4-FFF2-40B4-BE49-F238E27FC236}">
                <a16:creationId xmlns:a16="http://schemas.microsoft.com/office/drawing/2014/main" id="{ABA42618-70B4-44BF-8E4E-B43D628B91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11</a:t>
            </a:fld>
            <a:endParaRPr lang="zh-TW" altLang="en-US"/>
          </a:p>
        </p:txBody>
      </p:sp>
      <p:pic>
        <p:nvPicPr>
          <p:cNvPr id="6" name="圖片 5">
            <a:extLst>
              <a:ext uri="{FF2B5EF4-FFF2-40B4-BE49-F238E27FC236}">
                <a16:creationId xmlns:a16="http://schemas.microsoft.com/office/drawing/2014/main" id="{7CE3B442-46FC-446D-B573-BBEBB65E999C}"/>
              </a:ext>
            </a:extLst>
          </p:cNvPr>
          <p:cNvPicPr>
            <a:picLocks noChangeAspect="1"/>
          </p:cNvPicPr>
          <p:nvPr/>
        </p:nvPicPr>
        <p:blipFill>
          <a:blip r:embed="rId2"/>
          <a:stretch>
            <a:fillRect/>
          </a:stretch>
        </p:blipFill>
        <p:spPr>
          <a:xfrm>
            <a:off x="1712448" y="1317788"/>
            <a:ext cx="5329846" cy="3739029"/>
          </a:xfrm>
          <a:prstGeom prst="rect">
            <a:avLst/>
          </a:prstGeom>
        </p:spPr>
      </p:pic>
    </p:spTree>
    <p:extLst>
      <p:ext uri="{BB962C8B-B14F-4D97-AF65-F5344CB8AC3E}">
        <p14:creationId xmlns:p14="http://schemas.microsoft.com/office/powerpoint/2010/main" val="13759625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TW"/>
              <a:t>中心成員及組織</a:t>
            </a:r>
            <a:endParaRPr/>
          </a:p>
        </p:txBody>
      </p:sp>
      <p:graphicFrame>
        <p:nvGraphicFramePr>
          <p:cNvPr id="102" name="Google Shape;102;p17"/>
          <p:cNvGraphicFramePr/>
          <p:nvPr/>
        </p:nvGraphicFramePr>
        <p:xfrm>
          <a:off x="1796375" y="1779350"/>
          <a:ext cx="3193150" cy="1584840"/>
        </p:xfrm>
        <a:graphic>
          <a:graphicData uri="http://schemas.openxmlformats.org/drawingml/2006/table">
            <a:tbl>
              <a:tblPr>
                <a:noFill/>
                <a:tableStyleId>{9E64BA81-3E8A-4EED-A53E-4920B04D34E3}</a:tableStyleId>
              </a:tblPr>
              <a:tblGrid>
                <a:gridCol w="1575400">
                  <a:extLst>
                    <a:ext uri="{9D8B030D-6E8A-4147-A177-3AD203B41FA5}">
                      <a16:colId xmlns:a16="http://schemas.microsoft.com/office/drawing/2014/main" val="20000"/>
                    </a:ext>
                  </a:extLst>
                </a:gridCol>
                <a:gridCol w="16177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zh-TW"/>
                        <a:t>職稱</a:t>
                      </a:r>
                      <a:endParaRPr/>
                    </a:p>
                  </a:txBody>
                  <a:tcPr marL="91425" marR="91425" marT="91425" marB="91425"/>
                </a:tc>
                <a:tc>
                  <a:txBody>
                    <a:bodyPr/>
                    <a:lstStyle/>
                    <a:p>
                      <a:pPr marL="0" lvl="0" indent="0" algn="ctr" rtl="0">
                        <a:spcBef>
                          <a:spcPts val="0"/>
                        </a:spcBef>
                        <a:spcAft>
                          <a:spcPts val="0"/>
                        </a:spcAft>
                        <a:buNone/>
                      </a:pPr>
                      <a:r>
                        <a:rPr lang="zh-TW"/>
                        <a:t>人數(位)</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zh-TW"/>
                        <a:t>主任</a:t>
                      </a:r>
                      <a:endParaRPr/>
                    </a:p>
                  </a:txBody>
                  <a:tcPr marL="91425" marR="91425" marT="91425" marB="91425"/>
                </a:tc>
                <a:tc>
                  <a:txBody>
                    <a:bodyPr/>
                    <a:lstStyle/>
                    <a:p>
                      <a:pPr marL="0" lvl="0" indent="0" algn="ctr" rtl="0">
                        <a:spcBef>
                          <a:spcPts val="0"/>
                        </a:spcBef>
                        <a:spcAft>
                          <a:spcPts val="0"/>
                        </a:spcAft>
                        <a:buNone/>
                      </a:pPr>
                      <a:r>
                        <a:rPr lang="zh-TW"/>
                        <a:t>1</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zh-TW"/>
                        <a:t>執行長</a:t>
                      </a:r>
                      <a:endParaRPr/>
                    </a:p>
                  </a:txBody>
                  <a:tcPr marL="91425" marR="91425" marT="91425" marB="91425"/>
                </a:tc>
                <a:tc>
                  <a:txBody>
                    <a:bodyPr/>
                    <a:lstStyle/>
                    <a:p>
                      <a:pPr marL="0" lvl="0" indent="0" algn="ctr" rtl="0">
                        <a:spcBef>
                          <a:spcPts val="0"/>
                        </a:spcBef>
                        <a:spcAft>
                          <a:spcPts val="0"/>
                        </a:spcAft>
                        <a:buNone/>
                      </a:pPr>
                      <a:r>
                        <a:rPr lang="zh-TW"/>
                        <a:t>1</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zh-TW"/>
                        <a:t>專任助理</a:t>
                      </a:r>
                      <a:endParaRPr/>
                    </a:p>
                  </a:txBody>
                  <a:tcPr marL="91425" marR="91425" marT="91425" marB="91425"/>
                </a:tc>
                <a:tc>
                  <a:txBody>
                    <a:bodyPr/>
                    <a:lstStyle/>
                    <a:p>
                      <a:pPr marL="0" lvl="0" indent="0" algn="ctr" rtl="0">
                        <a:spcBef>
                          <a:spcPts val="0"/>
                        </a:spcBef>
                        <a:spcAft>
                          <a:spcPts val="0"/>
                        </a:spcAft>
                        <a:buNone/>
                      </a:pPr>
                      <a:r>
                        <a:rPr lang="zh-TW"/>
                        <a:t>4</a:t>
                      </a:r>
                      <a:endParaRPr/>
                    </a:p>
                  </a:txBody>
                  <a:tcPr marL="91425" marR="91425" marT="91425" marB="91425"/>
                </a:tc>
                <a:extLst>
                  <a:ext uri="{0D108BD9-81ED-4DB2-BD59-A6C34878D82A}">
                    <a16:rowId xmlns:a16="http://schemas.microsoft.com/office/drawing/2014/main" val="10003"/>
                  </a:ext>
                </a:extLst>
              </a:tr>
            </a:tbl>
          </a:graphicData>
        </a:graphic>
      </p:graphicFrame>
      <p:sp>
        <p:nvSpPr>
          <p:cNvPr id="103" name="Google Shape;103;p17"/>
          <p:cNvSpPr txBox="1">
            <a:spLocks noGrp="1"/>
          </p:cNvSpPr>
          <p:nvPr>
            <p:ph type="body" idx="1"/>
          </p:nvPr>
        </p:nvSpPr>
        <p:spPr>
          <a:xfrm>
            <a:off x="1699000" y="1334150"/>
            <a:ext cx="2868000" cy="320400"/>
          </a:xfrm>
          <a:prstGeom prst="rect">
            <a:avLst/>
          </a:prstGeom>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0"/>
              </a:spcAft>
              <a:buNone/>
            </a:pPr>
            <a:r>
              <a:rPr lang="zh-TW" sz="5200">
                <a:solidFill>
                  <a:srgbClr val="000000"/>
                </a:solidFill>
                <a:latin typeface="Times New Roman"/>
                <a:ea typeface="Times New Roman"/>
                <a:cs typeface="Times New Roman"/>
                <a:sym typeface="Times New Roman"/>
              </a:rPr>
              <a:t> </a:t>
            </a:r>
            <a:r>
              <a:rPr lang="zh-TW" sz="6400">
                <a:solidFill>
                  <a:srgbClr val="000000"/>
                </a:solidFill>
                <a:latin typeface="Times New Roman"/>
                <a:ea typeface="Times New Roman"/>
                <a:cs typeface="Times New Roman"/>
                <a:sym typeface="Times New Roman"/>
              </a:rPr>
              <a:t>中心目前共6位成員如下表：</a:t>
            </a:r>
            <a:endParaRPr sz="6400">
              <a:solidFill>
                <a:srgbClr val="000000"/>
              </a:solidFill>
              <a:latin typeface="Times New Roman"/>
              <a:ea typeface="Times New Roman"/>
              <a:cs typeface="Times New Roman"/>
              <a:sym typeface="Times New Roman"/>
            </a:endParaRPr>
          </a:p>
          <a:p>
            <a:pPr marL="0" lvl="0" indent="0" algn="l" rtl="0">
              <a:spcBef>
                <a:spcPts val="0"/>
              </a:spcBef>
              <a:spcAft>
                <a:spcPts val="1200"/>
              </a:spcAft>
              <a:buNone/>
            </a:pPr>
            <a:endParaRPr/>
          </a:p>
        </p:txBody>
      </p:sp>
      <p:sp>
        <p:nvSpPr>
          <p:cNvPr id="2" name="投影片編號版面配置區 1">
            <a:extLst>
              <a:ext uri="{FF2B5EF4-FFF2-40B4-BE49-F238E27FC236}">
                <a16:creationId xmlns:a16="http://schemas.microsoft.com/office/drawing/2014/main" id="{0FD04190-0A93-4477-9458-0635EADC7E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12</a:t>
            </a:fld>
            <a:endParaRPr lang="zh-TW" altLang="en-US"/>
          </a:p>
        </p:txBody>
      </p:sp>
    </p:spTree>
    <p:extLst>
      <p:ext uri="{BB962C8B-B14F-4D97-AF65-F5344CB8AC3E}">
        <p14:creationId xmlns:p14="http://schemas.microsoft.com/office/powerpoint/2010/main" val="51535779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TW"/>
              <a:t>空間規劃</a:t>
            </a:r>
            <a:endParaRPr/>
          </a:p>
        </p:txBody>
      </p:sp>
      <p:sp>
        <p:nvSpPr>
          <p:cNvPr id="136" name="Google Shape;136;p22"/>
          <p:cNvSpPr txBox="1">
            <a:spLocks noGrp="1"/>
          </p:cNvSpPr>
          <p:nvPr>
            <p:ph type="body" idx="1"/>
          </p:nvPr>
        </p:nvSpPr>
        <p:spPr>
          <a:xfrm>
            <a:off x="967300" y="1386775"/>
            <a:ext cx="8520600" cy="320400"/>
          </a:xfrm>
          <a:prstGeom prst="rect">
            <a:avLst/>
          </a:prstGeom>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0"/>
              </a:spcAft>
              <a:buNone/>
            </a:pPr>
            <a:r>
              <a:rPr lang="zh-TW" sz="5200">
                <a:solidFill>
                  <a:srgbClr val="000000"/>
                </a:solidFill>
                <a:latin typeface="Times New Roman"/>
                <a:ea typeface="Times New Roman"/>
                <a:cs typeface="Times New Roman"/>
                <a:sym typeface="Times New Roman"/>
              </a:rPr>
              <a:t> 中心的空間目前配置共三間，位於本校水源校區卓越研究大樓的7樓，各空間圖片及用途如下表：</a:t>
            </a:r>
            <a:endParaRPr sz="5200">
              <a:solidFill>
                <a:srgbClr val="000000"/>
              </a:solidFill>
              <a:latin typeface="Times New Roman"/>
              <a:ea typeface="Times New Roman"/>
              <a:cs typeface="Times New Roman"/>
              <a:sym typeface="Times New Roman"/>
            </a:endParaRPr>
          </a:p>
          <a:p>
            <a:pPr marL="0" lvl="0" indent="0" algn="l" rtl="0">
              <a:spcBef>
                <a:spcPts val="0"/>
              </a:spcBef>
              <a:spcAft>
                <a:spcPts val="1200"/>
              </a:spcAft>
              <a:buNone/>
            </a:pPr>
            <a:endParaRPr/>
          </a:p>
        </p:txBody>
      </p:sp>
      <p:graphicFrame>
        <p:nvGraphicFramePr>
          <p:cNvPr id="137" name="Google Shape;137;p22"/>
          <p:cNvGraphicFramePr/>
          <p:nvPr/>
        </p:nvGraphicFramePr>
        <p:xfrm>
          <a:off x="1027675" y="1884575"/>
          <a:ext cx="7239000" cy="2559770"/>
        </p:xfrm>
        <a:graphic>
          <a:graphicData uri="http://schemas.openxmlformats.org/drawingml/2006/table">
            <a:tbl>
              <a:tblPr>
                <a:noFill/>
                <a:tableStyleId>{9E64BA81-3E8A-4EED-A53E-4920B04D34E3}</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zh-TW"/>
                        <a:t>705</a:t>
                      </a:r>
                      <a:endParaRPr/>
                    </a:p>
                  </a:txBody>
                  <a:tcPr marL="91425" marR="91425" marT="91425" marB="91425"/>
                </a:tc>
                <a:tc>
                  <a:txBody>
                    <a:bodyPr/>
                    <a:lstStyle/>
                    <a:p>
                      <a:pPr marL="0" lvl="0" indent="0" algn="ctr" rtl="0">
                        <a:spcBef>
                          <a:spcPts val="0"/>
                        </a:spcBef>
                        <a:spcAft>
                          <a:spcPts val="0"/>
                        </a:spcAft>
                        <a:buNone/>
                      </a:pPr>
                      <a:r>
                        <a:rPr lang="zh-TW"/>
                        <a:t>706</a:t>
                      </a:r>
                      <a:endParaRPr/>
                    </a:p>
                  </a:txBody>
                  <a:tcPr marL="91425" marR="91425" marT="91425" marB="91425"/>
                </a:tc>
                <a:tc>
                  <a:txBody>
                    <a:bodyPr/>
                    <a:lstStyle/>
                    <a:p>
                      <a:pPr marL="0" lvl="0" indent="0" algn="ctr" rtl="0">
                        <a:spcBef>
                          <a:spcPts val="0"/>
                        </a:spcBef>
                        <a:spcAft>
                          <a:spcPts val="0"/>
                        </a:spcAft>
                        <a:buNone/>
                      </a:pPr>
                      <a:r>
                        <a:rPr lang="zh-TW"/>
                        <a:t>707</a:t>
                      </a:r>
                      <a:endParaRPr/>
                    </a:p>
                  </a:txBody>
                  <a:tcPr marL="91425" marR="91425" marT="91425" marB="91425"/>
                </a:tc>
                <a:extLst>
                  <a:ext uri="{0D108BD9-81ED-4DB2-BD59-A6C34878D82A}">
                    <a16:rowId xmlns:a16="http://schemas.microsoft.com/office/drawing/2014/main" val="10000"/>
                  </a:ext>
                </a:extLst>
              </a:tr>
              <a:tr h="1767350">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zh-TW"/>
                        <a:t>中心辦公室</a:t>
                      </a:r>
                      <a:endParaRPr/>
                    </a:p>
                  </a:txBody>
                  <a:tcPr marL="91425" marR="91425" marT="91425" marB="91425"/>
                </a:tc>
                <a:tc>
                  <a:txBody>
                    <a:bodyPr/>
                    <a:lstStyle/>
                    <a:p>
                      <a:pPr marL="0" lvl="0" indent="0" algn="ctr" rtl="0">
                        <a:spcBef>
                          <a:spcPts val="0"/>
                        </a:spcBef>
                        <a:spcAft>
                          <a:spcPts val="0"/>
                        </a:spcAft>
                        <a:buNone/>
                      </a:pPr>
                      <a:r>
                        <a:rPr lang="zh-TW"/>
                        <a:t>新創課程教室</a:t>
                      </a:r>
                      <a:endParaRPr/>
                    </a:p>
                  </a:txBody>
                  <a:tcPr marL="91425" marR="91425" marT="91425" marB="91425"/>
                </a:tc>
                <a:tc>
                  <a:txBody>
                    <a:bodyPr/>
                    <a:lstStyle/>
                    <a:p>
                      <a:pPr marL="0" lvl="0" indent="0" algn="ctr" rtl="0">
                        <a:spcBef>
                          <a:spcPts val="0"/>
                        </a:spcBef>
                        <a:spcAft>
                          <a:spcPts val="0"/>
                        </a:spcAft>
                        <a:buNone/>
                      </a:pPr>
                      <a:r>
                        <a:rPr lang="zh-TW"/>
                        <a:t>會議室</a:t>
                      </a:r>
                      <a:endParaRPr/>
                    </a:p>
                  </a:txBody>
                  <a:tcPr marL="91425" marR="91425" marT="91425" marB="91425"/>
                </a:tc>
                <a:extLst>
                  <a:ext uri="{0D108BD9-81ED-4DB2-BD59-A6C34878D82A}">
                    <a16:rowId xmlns:a16="http://schemas.microsoft.com/office/drawing/2014/main" val="10002"/>
                  </a:ext>
                </a:extLst>
              </a:tr>
            </a:tbl>
          </a:graphicData>
        </a:graphic>
      </p:graphicFrame>
      <p:pic>
        <p:nvPicPr>
          <p:cNvPr id="138" name="Google Shape;138;p22"/>
          <p:cNvPicPr preferRelativeResize="0"/>
          <p:nvPr/>
        </p:nvPicPr>
        <p:blipFill>
          <a:blip r:embed="rId3">
            <a:alphaModFix/>
          </a:blip>
          <a:stretch>
            <a:fillRect/>
          </a:stretch>
        </p:blipFill>
        <p:spPr>
          <a:xfrm>
            <a:off x="1121450" y="2301525"/>
            <a:ext cx="2264178" cy="1695451"/>
          </a:xfrm>
          <a:prstGeom prst="rect">
            <a:avLst/>
          </a:prstGeom>
          <a:noFill/>
          <a:ln>
            <a:noFill/>
          </a:ln>
        </p:spPr>
      </p:pic>
      <p:pic>
        <p:nvPicPr>
          <p:cNvPr id="139" name="Google Shape;139;p22"/>
          <p:cNvPicPr preferRelativeResize="0"/>
          <p:nvPr/>
        </p:nvPicPr>
        <p:blipFill>
          <a:blip r:embed="rId4">
            <a:alphaModFix/>
          </a:blip>
          <a:stretch>
            <a:fillRect/>
          </a:stretch>
        </p:blipFill>
        <p:spPr>
          <a:xfrm>
            <a:off x="3510250" y="2300175"/>
            <a:ext cx="2264176" cy="1698143"/>
          </a:xfrm>
          <a:prstGeom prst="rect">
            <a:avLst/>
          </a:prstGeom>
          <a:noFill/>
          <a:ln>
            <a:noFill/>
          </a:ln>
        </p:spPr>
      </p:pic>
      <p:pic>
        <p:nvPicPr>
          <p:cNvPr id="140" name="Google Shape;140;p22"/>
          <p:cNvPicPr preferRelativeResize="0"/>
          <p:nvPr/>
        </p:nvPicPr>
        <p:blipFill>
          <a:blip r:embed="rId5">
            <a:alphaModFix/>
          </a:blip>
          <a:stretch>
            <a:fillRect/>
          </a:stretch>
        </p:blipFill>
        <p:spPr>
          <a:xfrm>
            <a:off x="5899050" y="2300175"/>
            <a:ext cx="2302476" cy="1698150"/>
          </a:xfrm>
          <a:prstGeom prst="rect">
            <a:avLst/>
          </a:prstGeom>
          <a:noFill/>
          <a:ln>
            <a:noFill/>
          </a:ln>
        </p:spPr>
      </p:pic>
      <p:sp>
        <p:nvSpPr>
          <p:cNvPr id="2" name="投影片編號版面配置區 1">
            <a:extLst>
              <a:ext uri="{FF2B5EF4-FFF2-40B4-BE49-F238E27FC236}">
                <a16:creationId xmlns:a16="http://schemas.microsoft.com/office/drawing/2014/main" id="{6684EA98-A295-47AA-A706-E9000AF782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13</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zh-TW" altLang="en-US" sz="3300" dirty="0"/>
              <a:t>預算配置</a:t>
            </a:r>
            <a:r>
              <a:rPr lang="zh-TW" sz="3300" dirty="0"/>
              <a:t>-</a:t>
            </a:r>
            <a:r>
              <a:rPr lang="zh-TW" sz="3300" dirty="0">
                <a:solidFill>
                  <a:schemeClr val="accent3"/>
                </a:solidFill>
              </a:rPr>
              <a:t>輔導培育(Incubation)</a:t>
            </a:r>
            <a:endParaRPr sz="3300" dirty="0">
              <a:solidFill>
                <a:schemeClr val="accent3"/>
              </a:solidFill>
            </a:endParaRPr>
          </a:p>
        </p:txBody>
      </p:sp>
      <p:sp>
        <p:nvSpPr>
          <p:cNvPr id="146" name="Google Shape;146;p23"/>
          <p:cNvSpPr txBox="1">
            <a:spLocks noGrp="1"/>
          </p:cNvSpPr>
          <p:nvPr>
            <p:ph type="body" idx="1"/>
          </p:nvPr>
        </p:nvSpPr>
        <p:spPr>
          <a:xfrm>
            <a:off x="824925" y="1209375"/>
            <a:ext cx="7891200" cy="92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275"/>
              <a:buNone/>
            </a:pPr>
            <a:r>
              <a:rPr lang="zh-TW" sz="1400" dirty="0">
                <a:solidFill>
                  <a:srgbClr val="000000"/>
                </a:solidFill>
                <a:ea typeface="Times New Roman"/>
                <a:cs typeface="Times New Roman"/>
                <a:sym typeface="Times New Roman"/>
              </a:rPr>
              <a:t>中心的總體經費是從</a:t>
            </a:r>
            <a:r>
              <a:rPr lang="zh-TW" sz="1400" b="1" dirty="0">
                <a:solidFill>
                  <a:srgbClr val="000000"/>
                </a:solidFill>
                <a:ea typeface="Times New Roman"/>
                <a:cs typeface="Times New Roman"/>
                <a:sym typeface="Times New Roman"/>
              </a:rPr>
              <a:t>輔導培育(Incubation)</a:t>
            </a:r>
            <a:r>
              <a:rPr lang="zh-TW" sz="1400" dirty="0">
                <a:solidFill>
                  <a:srgbClr val="000000"/>
                </a:solidFill>
                <a:ea typeface="Times New Roman"/>
                <a:cs typeface="Times New Roman"/>
                <a:sym typeface="Times New Roman"/>
              </a:rPr>
              <a:t>、</a:t>
            </a:r>
            <a:r>
              <a:rPr lang="zh-TW" sz="1400" b="1" dirty="0">
                <a:solidFill>
                  <a:srgbClr val="000000"/>
                </a:solidFill>
                <a:ea typeface="Times New Roman"/>
                <a:cs typeface="Times New Roman"/>
                <a:sym typeface="Times New Roman"/>
              </a:rPr>
              <a:t>對接整合(Integration)</a:t>
            </a:r>
            <a:r>
              <a:rPr lang="zh-TW" sz="1400" dirty="0">
                <a:solidFill>
                  <a:srgbClr val="000000"/>
                </a:solidFill>
                <a:ea typeface="Times New Roman"/>
                <a:cs typeface="Times New Roman"/>
                <a:sym typeface="Times New Roman"/>
              </a:rPr>
              <a:t>、</a:t>
            </a:r>
            <a:r>
              <a:rPr lang="zh-TW" sz="1400" b="1" dirty="0">
                <a:solidFill>
                  <a:srgbClr val="000000"/>
                </a:solidFill>
                <a:ea typeface="Times New Roman"/>
                <a:cs typeface="Times New Roman"/>
                <a:sym typeface="Times New Roman"/>
              </a:rPr>
              <a:t>點火起飛(Ignition)</a:t>
            </a:r>
            <a:r>
              <a:rPr lang="zh-TW" sz="1400" dirty="0">
                <a:solidFill>
                  <a:srgbClr val="000000"/>
                </a:solidFill>
                <a:ea typeface="Times New Roman"/>
                <a:cs typeface="Times New Roman"/>
                <a:sym typeface="Times New Roman"/>
              </a:rPr>
              <a:t>及</a:t>
            </a:r>
            <a:r>
              <a:rPr lang="zh-TW" sz="1400" b="1" dirty="0">
                <a:solidFill>
                  <a:srgbClr val="000000"/>
                </a:solidFill>
                <a:ea typeface="Times New Roman"/>
                <a:cs typeface="Times New Roman"/>
                <a:sym typeface="Times New Roman"/>
              </a:rPr>
              <a:t>行政</a:t>
            </a:r>
            <a:r>
              <a:rPr lang="zh-TW" sz="1400" dirty="0">
                <a:solidFill>
                  <a:srgbClr val="000000"/>
                </a:solidFill>
                <a:ea typeface="Times New Roman"/>
                <a:cs typeface="Times New Roman"/>
                <a:sym typeface="Times New Roman"/>
              </a:rPr>
              <a:t>這四面向去做規劃：</a:t>
            </a:r>
            <a:endParaRPr sz="2000" dirty="0"/>
          </a:p>
        </p:txBody>
      </p:sp>
      <p:graphicFrame>
        <p:nvGraphicFramePr>
          <p:cNvPr id="147" name="Google Shape;147;p23"/>
          <p:cNvGraphicFramePr/>
          <p:nvPr/>
        </p:nvGraphicFramePr>
        <p:xfrm>
          <a:off x="848925" y="1933875"/>
          <a:ext cx="7679900" cy="2815410"/>
        </p:xfrm>
        <a:graphic>
          <a:graphicData uri="http://schemas.openxmlformats.org/drawingml/2006/table">
            <a:tbl>
              <a:tblPr>
                <a:noFill/>
                <a:tableStyleId>{24A2EA47-6575-4F5B-A215-B25CD3342101}</a:tableStyleId>
              </a:tblPr>
              <a:tblGrid>
                <a:gridCol w="873950">
                  <a:extLst>
                    <a:ext uri="{9D8B030D-6E8A-4147-A177-3AD203B41FA5}">
                      <a16:colId xmlns:a16="http://schemas.microsoft.com/office/drawing/2014/main" val="20000"/>
                    </a:ext>
                  </a:extLst>
                </a:gridCol>
                <a:gridCol w="1529725">
                  <a:extLst>
                    <a:ext uri="{9D8B030D-6E8A-4147-A177-3AD203B41FA5}">
                      <a16:colId xmlns:a16="http://schemas.microsoft.com/office/drawing/2014/main" val="20001"/>
                    </a:ext>
                  </a:extLst>
                </a:gridCol>
                <a:gridCol w="2025975">
                  <a:extLst>
                    <a:ext uri="{9D8B030D-6E8A-4147-A177-3AD203B41FA5}">
                      <a16:colId xmlns:a16="http://schemas.microsoft.com/office/drawing/2014/main" val="20002"/>
                    </a:ext>
                  </a:extLst>
                </a:gridCol>
                <a:gridCol w="3250250">
                  <a:extLst>
                    <a:ext uri="{9D8B030D-6E8A-4147-A177-3AD203B41FA5}">
                      <a16:colId xmlns:a16="http://schemas.microsoft.com/office/drawing/2014/main" val="20003"/>
                    </a:ext>
                  </a:extLst>
                </a:gridCol>
              </a:tblGrid>
              <a:tr h="231675">
                <a:tc>
                  <a:txBody>
                    <a:bodyPr/>
                    <a:lstStyle/>
                    <a:p>
                      <a:pPr marL="0" lvl="0" indent="0" algn="ctr" rtl="0">
                        <a:lnSpc>
                          <a:spcPct val="100000"/>
                        </a:lnSpc>
                        <a:spcBef>
                          <a:spcPts val="0"/>
                        </a:spcBef>
                        <a:spcAft>
                          <a:spcPts val="0"/>
                        </a:spcAft>
                        <a:buNone/>
                      </a:pPr>
                      <a:r>
                        <a:rPr lang="zh-TW" sz="1200" b="1">
                          <a:latin typeface="Courier New"/>
                          <a:ea typeface="Courier New"/>
                          <a:cs typeface="Courier New"/>
                          <a:sym typeface="Courier New"/>
                        </a:rPr>
                        <a:t>項目</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solidFill>
                      <a:srgbClr val="CFE2F3"/>
                    </a:solidFill>
                  </a:tcPr>
                </a:tc>
                <a:tc>
                  <a:txBody>
                    <a:bodyPr/>
                    <a:lstStyle/>
                    <a:p>
                      <a:pPr marL="0" lvl="0" indent="0" algn="ctr" rtl="0">
                        <a:lnSpc>
                          <a:spcPct val="100000"/>
                        </a:lnSpc>
                        <a:spcBef>
                          <a:spcPts val="0"/>
                        </a:spcBef>
                        <a:spcAft>
                          <a:spcPts val="0"/>
                        </a:spcAft>
                        <a:buNone/>
                      </a:pPr>
                      <a:r>
                        <a:rPr lang="zh-TW" sz="1200" b="1">
                          <a:latin typeface="Courier New"/>
                          <a:ea typeface="Courier New"/>
                          <a:cs typeface="Courier New"/>
                          <a:sym typeface="Courier New"/>
                        </a:rPr>
                        <a:t>活動</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solidFill>
                      <a:srgbClr val="CFE2F3"/>
                    </a:solidFill>
                  </a:tcPr>
                </a:tc>
                <a:tc>
                  <a:txBody>
                    <a:bodyPr/>
                    <a:lstStyle/>
                    <a:p>
                      <a:pPr marL="0" lvl="0" indent="0" algn="ctr" rtl="0">
                        <a:lnSpc>
                          <a:spcPct val="100000"/>
                        </a:lnSpc>
                        <a:spcBef>
                          <a:spcPts val="0"/>
                        </a:spcBef>
                        <a:spcAft>
                          <a:spcPts val="0"/>
                        </a:spcAft>
                        <a:buNone/>
                      </a:pPr>
                      <a:r>
                        <a:rPr lang="zh-TW" sz="1200" b="1">
                          <a:latin typeface="Courier New"/>
                          <a:ea typeface="Courier New"/>
                          <a:cs typeface="Courier New"/>
                          <a:sym typeface="Courier New"/>
                        </a:rPr>
                        <a:t>內容</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222222"/>
                      </a:solidFill>
                      <a:prstDash val="solid"/>
                      <a:round/>
                      <a:headEnd type="none" w="sm" len="sm"/>
                      <a:tailEnd type="none" w="sm" len="sm"/>
                    </a:lnB>
                    <a:solidFill>
                      <a:srgbClr val="CFE2F3"/>
                    </a:solidFill>
                  </a:tcPr>
                </a:tc>
                <a:tc>
                  <a:txBody>
                    <a:bodyPr/>
                    <a:lstStyle/>
                    <a:p>
                      <a:pPr marL="0" lvl="0" indent="0" algn="ctr" rtl="0">
                        <a:lnSpc>
                          <a:spcPct val="100000"/>
                        </a:lnSpc>
                        <a:spcBef>
                          <a:spcPts val="0"/>
                        </a:spcBef>
                        <a:spcAft>
                          <a:spcPts val="0"/>
                        </a:spcAft>
                        <a:buNone/>
                      </a:pPr>
                      <a:r>
                        <a:rPr lang="zh-TW" sz="1200" b="1">
                          <a:latin typeface="Courier New"/>
                          <a:ea typeface="Courier New"/>
                          <a:cs typeface="Courier New"/>
                          <a:sym typeface="Courier New"/>
                        </a:rPr>
                        <a:t>說明</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222222"/>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219075">
                <a:tc rowSpan="6">
                  <a:txBody>
                    <a:bodyPr/>
                    <a:lstStyle/>
                    <a:p>
                      <a:pPr marL="0" lvl="0" indent="0" algn="ctr" rtl="0">
                        <a:lnSpc>
                          <a:spcPct val="100000"/>
                        </a:lnSpc>
                        <a:spcBef>
                          <a:spcPts val="0"/>
                        </a:spcBef>
                        <a:spcAft>
                          <a:spcPts val="0"/>
                        </a:spcAft>
                        <a:buNone/>
                      </a:pPr>
                      <a:r>
                        <a:rPr lang="zh-TW" sz="1200">
                          <a:latin typeface="Courier New"/>
                          <a:ea typeface="Courier New"/>
                          <a:cs typeface="Courier New"/>
                          <a:sym typeface="Courier New"/>
                        </a:rPr>
                        <a:t>輔導培育</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rowSpan="6">
                  <a:txBody>
                    <a:bodyPr/>
                    <a:lstStyle/>
                    <a:p>
                      <a:pPr marL="0" lvl="0" indent="0" algn="ctr" rtl="0">
                        <a:lnSpc>
                          <a:spcPct val="100000"/>
                        </a:lnSpc>
                        <a:spcBef>
                          <a:spcPts val="0"/>
                        </a:spcBef>
                        <a:spcAft>
                          <a:spcPts val="0"/>
                        </a:spcAft>
                        <a:buNone/>
                      </a:pPr>
                      <a:r>
                        <a:rPr lang="zh-TW" sz="1200">
                          <a:latin typeface="Courier New"/>
                          <a:ea typeface="Courier New"/>
                          <a:cs typeface="Courier New"/>
                          <a:sym typeface="Courier New"/>
                        </a:rPr>
                        <a:t>台大車庫與加速器</a:t>
                      </a:r>
                      <a:endParaRPr sz="1200">
                        <a:latin typeface="Courier New"/>
                        <a:ea typeface="Courier New"/>
                        <a:cs typeface="Courier New"/>
                        <a:sym typeface="Courier New"/>
                      </a:endParaRPr>
                    </a:p>
                    <a:p>
                      <a:pPr marL="0" lvl="0" indent="0" algn="ctr" rtl="0">
                        <a:lnSpc>
                          <a:spcPct val="100000"/>
                        </a:lnSpc>
                        <a:spcBef>
                          <a:spcPts val="0"/>
                        </a:spcBef>
                        <a:spcAft>
                          <a:spcPts val="0"/>
                        </a:spcAft>
                        <a:buNone/>
                      </a:pPr>
                      <a:r>
                        <a:rPr lang="zh-TW" sz="1200">
                          <a:latin typeface="Courier New"/>
                          <a:ea typeface="Courier New"/>
                          <a:cs typeface="Courier New"/>
                          <a:sym typeface="Courier New"/>
                        </a:rPr>
                        <a:t>(一年一期)</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zh-TW" sz="1200">
                          <a:latin typeface="Courier New"/>
                          <a:ea typeface="Courier New"/>
                          <a:cs typeface="Courier New"/>
                          <a:sym typeface="Courier New"/>
                        </a:rPr>
                        <a:t>招募宣傳</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rowSpan="3">
                  <a:txBody>
                    <a:bodyPr/>
                    <a:lstStyle/>
                    <a:p>
                      <a:pPr marL="0" lvl="0" indent="0" algn="just" rtl="0">
                        <a:lnSpc>
                          <a:spcPct val="100000"/>
                        </a:lnSpc>
                        <a:spcBef>
                          <a:spcPts val="0"/>
                        </a:spcBef>
                        <a:spcAft>
                          <a:spcPts val="0"/>
                        </a:spcAft>
                        <a:buNone/>
                      </a:pPr>
                      <a:r>
                        <a:rPr lang="zh-TW" sz="1200" dirty="0">
                          <a:latin typeface="Courier New"/>
                          <a:ea typeface="Courier New"/>
                          <a:cs typeface="Courier New"/>
                          <a:sym typeface="Courier New"/>
                        </a:rPr>
                        <a:t>招募更多新創團隊進行培育，協助台大師生創業，結合校內資源、對接企業場域，形成台大創業生態系</a:t>
                      </a:r>
                      <a:endParaRPr sz="1200" dirty="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extLst>
                  <a:ext uri="{0D108BD9-81ED-4DB2-BD59-A6C34878D82A}">
                    <a16:rowId xmlns:a16="http://schemas.microsoft.com/office/drawing/2014/main" val="10001"/>
                  </a:ext>
                </a:extLst>
              </a:tr>
              <a:tr h="219075">
                <a:tc vMerge="1">
                  <a:txBody>
                    <a:bodyPr/>
                    <a:lstStyle/>
                    <a:p>
                      <a:endParaRPr lang="zh-TW"/>
                    </a:p>
                  </a:txBody>
                  <a:tcPr/>
                </a:tc>
                <a:tc vMerge="1">
                  <a:txBody>
                    <a:bodyPr/>
                    <a:lstStyle/>
                    <a:p>
                      <a:endParaRPr lang="zh-TW"/>
                    </a:p>
                  </a:txBody>
                  <a:tcPr/>
                </a:tc>
                <a:tc>
                  <a:txBody>
                    <a:bodyPr/>
                    <a:lstStyle/>
                    <a:p>
                      <a:pPr marL="0" lvl="0" indent="0" algn="ctr" rtl="0">
                        <a:lnSpc>
                          <a:spcPct val="100000"/>
                        </a:lnSpc>
                        <a:spcBef>
                          <a:spcPts val="0"/>
                        </a:spcBef>
                        <a:spcAft>
                          <a:spcPts val="0"/>
                        </a:spcAft>
                        <a:buNone/>
                      </a:pPr>
                      <a:r>
                        <a:rPr lang="zh-TW" sz="1200">
                          <a:latin typeface="Courier New"/>
                          <a:ea typeface="Courier New"/>
                          <a:cs typeface="Courier New"/>
                          <a:sym typeface="Courier New"/>
                        </a:rPr>
                        <a:t>招募審查</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vMerge="1">
                  <a:txBody>
                    <a:bodyPr/>
                    <a:lstStyle/>
                    <a:p>
                      <a:endParaRPr lang="zh-TW"/>
                    </a:p>
                  </a:txBody>
                  <a:tcPr/>
                </a:tc>
                <a:extLst>
                  <a:ext uri="{0D108BD9-81ED-4DB2-BD59-A6C34878D82A}">
                    <a16:rowId xmlns:a16="http://schemas.microsoft.com/office/drawing/2014/main" val="10002"/>
                  </a:ext>
                </a:extLst>
              </a:tr>
              <a:tr h="219075">
                <a:tc vMerge="1">
                  <a:txBody>
                    <a:bodyPr/>
                    <a:lstStyle/>
                    <a:p>
                      <a:endParaRPr lang="zh-TW"/>
                    </a:p>
                  </a:txBody>
                  <a:tcPr/>
                </a:tc>
                <a:tc vMerge="1">
                  <a:txBody>
                    <a:bodyPr/>
                    <a:lstStyle/>
                    <a:p>
                      <a:endParaRPr lang="zh-TW"/>
                    </a:p>
                  </a:txBody>
                  <a:tcPr/>
                </a:tc>
                <a:tc>
                  <a:txBody>
                    <a:bodyPr/>
                    <a:lstStyle/>
                    <a:p>
                      <a:pPr marL="0" lvl="0" indent="0" algn="ctr" rtl="0">
                        <a:lnSpc>
                          <a:spcPct val="100000"/>
                        </a:lnSpc>
                        <a:spcBef>
                          <a:spcPts val="0"/>
                        </a:spcBef>
                        <a:spcAft>
                          <a:spcPts val="0"/>
                        </a:spcAft>
                        <a:buNone/>
                      </a:pPr>
                      <a:r>
                        <a:rPr lang="zh-TW" sz="1200">
                          <a:latin typeface="Courier New"/>
                          <a:ea typeface="Courier New"/>
                          <a:cs typeface="Courier New"/>
                          <a:sym typeface="Courier New"/>
                        </a:rPr>
                        <a:t>開幕式及畢業典禮</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vMerge="1">
                  <a:txBody>
                    <a:bodyPr/>
                    <a:lstStyle/>
                    <a:p>
                      <a:endParaRPr lang="zh-TW"/>
                    </a:p>
                  </a:txBody>
                  <a:tcPr/>
                </a:tc>
                <a:extLst>
                  <a:ext uri="{0D108BD9-81ED-4DB2-BD59-A6C34878D82A}">
                    <a16:rowId xmlns:a16="http://schemas.microsoft.com/office/drawing/2014/main" val="10003"/>
                  </a:ext>
                </a:extLst>
              </a:tr>
              <a:tr h="438150">
                <a:tc vMerge="1">
                  <a:txBody>
                    <a:bodyPr/>
                    <a:lstStyle/>
                    <a:p>
                      <a:endParaRPr lang="zh-TW"/>
                    </a:p>
                  </a:txBody>
                  <a:tcPr/>
                </a:tc>
                <a:tc vMerge="1">
                  <a:txBody>
                    <a:bodyPr/>
                    <a:lstStyle/>
                    <a:p>
                      <a:endParaRPr lang="zh-TW"/>
                    </a:p>
                  </a:txBody>
                  <a:tcPr/>
                </a:tc>
                <a:tc>
                  <a:txBody>
                    <a:bodyPr/>
                    <a:lstStyle/>
                    <a:p>
                      <a:pPr marL="0" lvl="0" indent="0" algn="ctr" rtl="0">
                        <a:lnSpc>
                          <a:spcPct val="100000"/>
                        </a:lnSpc>
                        <a:spcBef>
                          <a:spcPts val="0"/>
                        </a:spcBef>
                        <a:spcAft>
                          <a:spcPts val="0"/>
                        </a:spcAft>
                        <a:buNone/>
                      </a:pPr>
                      <a:r>
                        <a:rPr lang="zh-TW" sz="1200">
                          <a:latin typeface="Courier New"/>
                          <a:ea typeface="Courier New"/>
                          <a:cs typeface="Courier New"/>
                          <a:sym typeface="Courier New"/>
                        </a:rPr>
                        <a:t>課程、工作坊及聯合諮詢</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000000"/>
                      </a:solidFill>
                      <a:prstDash val="solid"/>
                      <a:round/>
                      <a:headEnd type="none" w="sm" len="sm"/>
                      <a:tailEnd type="none" w="sm" len="sm"/>
                    </a:lnB>
                  </a:tcPr>
                </a:tc>
                <a:tc>
                  <a:txBody>
                    <a:bodyPr/>
                    <a:lstStyle/>
                    <a:p>
                      <a:pPr marL="0" lvl="0" indent="0" algn="just" rtl="0">
                        <a:lnSpc>
                          <a:spcPct val="100000"/>
                        </a:lnSpc>
                        <a:spcBef>
                          <a:spcPts val="0"/>
                        </a:spcBef>
                        <a:spcAft>
                          <a:spcPts val="0"/>
                        </a:spcAft>
                        <a:buNone/>
                      </a:pPr>
                      <a:r>
                        <a:rPr lang="zh-TW" sz="1200">
                          <a:latin typeface="Courier New"/>
                          <a:ea typeface="Courier New"/>
                          <a:cs typeface="Courier New"/>
                          <a:sym typeface="Courier New"/>
                        </a:rPr>
                        <a:t>訓練創業團隊必備知識及技能並提供導師專業知識及實務經驗</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19075">
                <a:tc vMerge="1">
                  <a:txBody>
                    <a:bodyPr/>
                    <a:lstStyle/>
                    <a:p>
                      <a:endParaRPr lang="zh-TW"/>
                    </a:p>
                  </a:txBody>
                  <a:tcPr/>
                </a:tc>
                <a:tc vMerge="1">
                  <a:txBody>
                    <a:bodyPr/>
                    <a:lstStyle/>
                    <a:p>
                      <a:endParaRPr lang="zh-TW"/>
                    </a:p>
                  </a:txBody>
                  <a:tcPr/>
                </a:tc>
                <a:tc>
                  <a:txBody>
                    <a:bodyPr/>
                    <a:lstStyle/>
                    <a:p>
                      <a:pPr marL="0" lvl="0" indent="0" algn="ctr" rtl="0">
                        <a:lnSpc>
                          <a:spcPct val="100000"/>
                        </a:lnSpc>
                        <a:spcBef>
                          <a:spcPts val="0"/>
                        </a:spcBef>
                        <a:spcAft>
                          <a:spcPts val="0"/>
                        </a:spcAft>
                        <a:buNone/>
                      </a:pPr>
                      <a:r>
                        <a:rPr lang="zh-TW" sz="1200">
                          <a:latin typeface="Courier New"/>
                          <a:ea typeface="Courier New"/>
                          <a:cs typeface="Courier New"/>
                          <a:sym typeface="Courier New"/>
                        </a:rPr>
                        <a:t>協助新創徵才</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a:txBody>
                    <a:bodyPr/>
                    <a:lstStyle/>
                    <a:p>
                      <a:pPr marL="0" lvl="0" indent="0" algn="just" rtl="0">
                        <a:lnSpc>
                          <a:spcPct val="100000"/>
                        </a:lnSpc>
                        <a:spcBef>
                          <a:spcPts val="0"/>
                        </a:spcBef>
                        <a:spcAft>
                          <a:spcPts val="0"/>
                        </a:spcAft>
                        <a:buNone/>
                      </a:pPr>
                      <a:r>
                        <a:rPr lang="zh-TW" sz="1200">
                          <a:latin typeface="Courier New"/>
                          <a:ea typeface="Courier New"/>
                          <a:cs typeface="Courier New"/>
                          <a:sym typeface="Courier New"/>
                        </a:rPr>
                        <a:t>擴大對台大人才的媒合力道</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38150">
                <a:tc vMerge="1">
                  <a:txBody>
                    <a:bodyPr/>
                    <a:lstStyle/>
                    <a:p>
                      <a:endParaRPr lang="zh-TW"/>
                    </a:p>
                  </a:txBody>
                  <a:tcPr/>
                </a:tc>
                <a:tc vMerge="1">
                  <a:txBody>
                    <a:bodyPr/>
                    <a:lstStyle/>
                    <a:p>
                      <a:endParaRPr lang="zh-TW"/>
                    </a:p>
                  </a:txBody>
                  <a:tcPr/>
                </a:tc>
                <a:tc>
                  <a:txBody>
                    <a:bodyPr/>
                    <a:lstStyle/>
                    <a:p>
                      <a:pPr marL="0" lvl="0" indent="0" algn="ctr" rtl="0">
                        <a:lnSpc>
                          <a:spcPct val="100000"/>
                        </a:lnSpc>
                        <a:spcBef>
                          <a:spcPts val="0"/>
                        </a:spcBef>
                        <a:spcAft>
                          <a:spcPts val="0"/>
                        </a:spcAft>
                        <a:buNone/>
                      </a:pPr>
                      <a:r>
                        <a:rPr lang="zh-TW" sz="1200" dirty="0">
                          <a:latin typeface="Courier New"/>
                          <a:ea typeface="Courier New"/>
                          <a:cs typeface="Courier New"/>
                          <a:sym typeface="Courier New"/>
                        </a:rPr>
                        <a:t>校友經營</a:t>
                      </a:r>
                      <a:endParaRPr sz="1200" dirty="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a:txBody>
                    <a:bodyPr/>
                    <a:lstStyle/>
                    <a:p>
                      <a:pPr marL="0" lvl="0" indent="0" algn="just" rtl="0">
                        <a:lnSpc>
                          <a:spcPct val="100000"/>
                        </a:lnSpc>
                        <a:spcBef>
                          <a:spcPts val="0"/>
                        </a:spcBef>
                        <a:spcAft>
                          <a:spcPts val="0"/>
                        </a:spcAft>
                        <a:buNone/>
                      </a:pPr>
                      <a:r>
                        <a:rPr lang="zh-TW" sz="1200" dirty="0">
                          <a:latin typeface="Courier New"/>
                          <a:ea typeface="Courier New"/>
                          <a:cs typeface="Courier New"/>
                          <a:sym typeface="Courier New"/>
                        </a:rPr>
                        <a:t>協助台大校友團隊離駐後持續成長並對接資源</a:t>
                      </a:r>
                      <a:endParaRPr sz="1200" dirty="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 name="投影片編號版面配置區 1">
            <a:extLst>
              <a:ext uri="{FF2B5EF4-FFF2-40B4-BE49-F238E27FC236}">
                <a16:creationId xmlns:a16="http://schemas.microsoft.com/office/drawing/2014/main" id="{9008747A-DF8B-4D86-9FB9-07917AF0CC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14</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zh-TW" altLang="en-US" sz="3300" dirty="0"/>
              <a:t>預算配置</a:t>
            </a:r>
            <a:r>
              <a:rPr lang="zh-TW" sz="3300" dirty="0"/>
              <a:t>-</a:t>
            </a:r>
            <a:r>
              <a:rPr lang="zh-TW" sz="3300" dirty="0">
                <a:solidFill>
                  <a:schemeClr val="accent3"/>
                </a:solidFill>
              </a:rPr>
              <a:t>對接整合(Integration)</a:t>
            </a:r>
            <a:endParaRPr sz="3300" dirty="0">
              <a:solidFill>
                <a:schemeClr val="accent3"/>
              </a:solidFill>
            </a:endParaRPr>
          </a:p>
        </p:txBody>
      </p:sp>
      <p:graphicFrame>
        <p:nvGraphicFramePr>
          <p:cNvPr id="153" name="Google Shape;153;p24"/>
          <p:cNvGraphicFramePr/>
          <p:nvPr/>
        </p:nvGraphicFramePr>
        <p:xfrm>
          <a:off x="802025" y="1632500"/>
          <a:ext cx="7586450" cy="2191394"/>
        </p:xfrm>
        <a:graphic>
          <a:graphicData uri="http://schemas.openxmlformats.org/drawingml/2006/table">
            <a:tbl>
              <a:tblPr>
                <a:noFill/>
                <a:tableStyleId>{24A2EA47-6575-4F5B-A215-B25CD3342101}</a:tableStyleId>
              </a:tblPr>
              <a:tblGrid>
                <a:gridCol w="863325">
                  <a:extLst>
                    <a:ext uri="{9D8B030D-6E8A-4147-A177-3AD203B41FA5}">
                      <a16:colId xmlns:a16="http://schemas.microsoft.com/office/drawing/2014/main" val="20000"/>
                    </a:ext>
                  </a:extLst>
                </a:gridCol>
                <a:gridCol w="1802175">
                  <a:extLst>
                    <a:ext uri="{9D8B030D-6E8A-4147-A177-3AD203B41FA5}">
                      <a16:colId xmlns:a16="http://schemas.microsoft.com/office/drawing/2014/main" val="20001"/>
                    </a:ext>
                  </a:extLst>
                </a:gridCol>
                <a:gridCol w="1974850">
                  <a:extLst>
                    <a:ext uri="{9D8B030D-6E8A-4147-A177-3AD203B41FA5}">
                      <a16:colId xmlns:a16="http://schemas.microsoft.com/office/drawing/2014/main" val="20002"/>
                    </a:ext>
                  </a:extLst>
                </a:gridCol>
                <a:gridCol w="2946100">
                  <a:extLst>
                    <a:ext uri="{9D8B030D-6E8A-4147-A177-3AD203B41FA5}">
                      <a16:colId xmlns:a16="http://schemas.microsoft.com/office/drawing/2014/main" val="20003"/>
                    </a:ext>
                  </a:extLst>
                </a:gridCol>
              </a:tblGrid>
              <a:tr h="219075">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項目</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活動</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內容</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222222"/>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說明</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222222"/>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219075">
                <a:tc rowSpan="4">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整合對接</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rowSpan="4">
                  <a:txBody>
                    <a:bodyPr/>
                    <a:lstStyle/>
                    <a:p>
                      <a:pPr marL="0" lvl="0" indent="0" algn="ctr" rtl="0">
                        <a:lnSpc>
                          <a:spcPct val="115000"/>
                        </a:lnSpc>
                        <a:spcBef>
                          <a:spcPts val="0"/>
                        </a:spcBef>
                        <a:spcAft>
                          <a:spcPts val="0"/>
                        </a:spcAft>
                        <a:buNone/>
                      </a:pPr>
                      <a:r>
                        <a:rPr lang="zh-TW" sz="1200" dirty="0">
                          <a:latin typeface="Courier New"/>
                          <a:ea typeface="Courier New"/>
                          <a:cs typeface="Courier New"/>
                          <a:sym typeface="Courier New"/>
                        </a:rPr>
                        <a:t>台大/企業/外部單位</a:t>
                      </a:r>
                      <a:endParaRPr sz="1200" dirty="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sz="1200" dirty="0">
                          <a:latin typeface="Courier New"/>
                          <a:ea typeface="Courier New"/>
                          <a:cs typeface="Courier New"/>
                          <a:sym typeface="Courier New"/>
                        </a:rPr>
                        <a:t>商業雜誌專訪</a:t>
                      </a:r>
                      <a:endParaRPr sz="1200" dirty="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rowSpan="2">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提升台大創創在台灣創新創業生態圈的整體知名度</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extLst>
                  <a:ext uri="{0D108BD9-81ED-4DB2-BD59-A6C34878D82A}">
                    <a16:rowId xmlns:a16="http://schemas.microsoft.com/office/drawing/2014/main" val="10001"/>
                  </a:ext>
                </a:extLst>
              </a:tr>
              <a:tr h="219075">
                <a:tc vMerge="1">
                  <a:txBody>
                    <a:bodyPr/>
                    <a:lstStyle/>
                    <a:p>
                      <a:endParaRPr lang="zh-TW"/>
                    </a:p>
                  </a:txBody>
                  <a:tcPr/>
                </a:tc>
                <a:tc vMerge="1">
                  <a:txBody>
                    <a:bodyPr/>
                    <a:lstStyle/>
                    <a:p>
                      <a:endParaRPr lang="zh-TW"/>
                    </a:p>
                  </a:txBody>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媒體宣傳</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vMerge="1">
                  <a:txBody>
                    <a:bodyPr/>
                    <a:lstStyle/>
                    <a:p>
                      <a:endParaRPr lang="zh-TW"/>
                    </a:p>
                  </a:txBody>
                  <a:tcPr/>
                </a:tc>
                <a:extLst>
                  <a:ext uri="{0D108BD9-81ED-4DB2-BD59-A6C34878D82A}">
                    <a16:rowId xmlns:a16="http://schemas.microsoft.com/office/drawing/2014/main" val="10002"/>
                  </a:ext>
                </a:extLst>
              </a:tr>
              <a:tr h="438150">
                <a:tc vMerge="1">
                  <a:txBody>
                    <a:bodyPr/>
                    <a:lstStyle/>
                    <a:p>
                      <a:endParaRPr lang="zh-TW"/>
                    </a:p>
                  </a:txBody>
                  <a:tcPr/>
                </a:tc>
                <a:tc vMerge="1">
                  <a:txBody>
                    <a:bodyPr/>
                    <a:lstStyle/>
                    <a:p>
                      <a:endParaRPr lang="zh-TW"/>
                    </a:p>
                  </a:txBody>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系所合作教授創業課程</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協助台大師生創業，建立台大創業生態系</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extLst>
                  <a:ext uri="{0D108BD9-81ED-4DB2-BD59-A6C34878D82A}">
                    <a16:rowId xmlns:a16="http://schemas.microsoft.com/office/drawing/2014/main" val="10003"/>
                  </a:ext>
                </a:extLst>
              </a:tr>
              <a:tr h="438150">
                <a:tc vMerge="1">
                  <a:txBody>
                    <a:bodyPr/>
                    <a:lstStyle/>
                    <a:p>
                      <a:endParaRPr lang="zh-TW"/>
                    </a:p>
                  </a:txBody>
                  <a:tcPr/>
                </a:tc>
                <a:tc vMerge="1">
                  <a:txBody>
                    <a:bodyPr/>
                    <a:lstStyle/>
                    <a:p>
                      <a:endParaRPr lang="zh-TW"/>
                    </a:p>
                  </a:txBody>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企業及外部單位合作洽談</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zh-TW" sz="1200" dirty="0">
                          <a:latin typeface="Courier New"/>
                          <a:ea typeface="Courier New"/>
                          <a:cs typeface="Courier New"/>
                          <a:sym typeface="Courier New"/>
                        </a:rPr>
                        <a:t>與各組織合作，發掘台灣技術型新創團隊，鏈結國際</a:t>
                      </a:r>
                      <a:endParaRPr sz="1200" dirty="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 name="投影片編號版面配置區 1">
            <a:extLst>
              <a:ext uri="{FF2B5EF4-FFF2-40B4-BE49-F238E27FC236}">
                <a16:creationId xmlns:a16="http://schemas.microsoft.com/office/drawing/2014/main" id="{53A922BA-6295-4745-991A-B689760DBA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15</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zh-TW" altLang="en-US" sz="3300" dirty="0"/>
              <a:t>預算配置</a:t>
            </a:r>
            <a:r>
              <a:rPr lang="zh-TW" sz="3300" dirty="0"/>
              <a:t>-</a:t>
            </a:r>
            <a:r>
              <a:rPr lang="zh-TW" sz="3300" dirty="0">
                <a:solidFill>
                  <a:schemeClr val="accent3"/>
                </a:solidFill>
              </a:rPr>
              <a:t>點火起飛(Ignition)</a:t>
            </a:r>
            <a:endParaRPr sz="3300" dirty="0">
              <a:solidFill>
                <a:schemeClr val="accent3"/>
              </a:solidFill>
            </a:endParaRPr>
          </a:p>
        </p:txBody>
      </p:sp>
      <p:graphicFrame>
        <p:nvGraphicFramePr>
          <p:cNvPr id="159" name="Google Shape;159;p25"/>
          <p:cNvGraphicFramePr/>
          <p:nvPr/>
        </p:nvGraphicFramePr>
        <p:xfrm>
          <a:off x="895775" y="1284250"/>
          <a:ext cx="7579800" cy="3174314"/>
        </p:xfrm>
        <a:graphic>
          <a:graphicData uri="http://schemas.openxmlformats.org/drawingml/2006/table">
            <a:tbl>
              <a:tblPr>
                <a:noFill/>
                <a:tableStyleId>{24A2EA47-6575-4F5B-A215-B25CD3342101}</a:tableStyleId>
              </a:tblPr>
              <a:tblGrid>
                <a:gridCol w="862575">
                  <a:extLst>
                    <a:ext uri="{9D8B030D-6E8A-4147-A177-3AD203B41FA5}">
                      <a16:colId xmlns:a16="http://schemas.microsoft.com/office/drawing/2014/main" val="20000"/>
                    </a:ext>
                  </a:extLst>
                </a:gridCol>
                <a:gridCol w="1800600">
                  <a:extLst>
                    <a:ext uri="{9D8B030D-6E8A-4147-A177-3AD203B41FA5}">
                      <a16:colId xmlns:a16="http://schemas.microsoft.com/office/drawing/2014/main" val="20001"/>
                    </a:ext>
                  </a:extLst>
                </a:gridCol>
                <a:gridCol w="1973125">
                  <a:extLst>
                    <a:ext uri="{9D8B030D-6E8A-4147-A177-3AD203B41FA5}">
                      <a16:colId xmlns:a16="http://schemas.microsoft.com/office/drawing/2014/main" val="20002"/>
                    </a:ext>
                  </a:extLst>
                </a:gridCol>
                <a:gridCol w="2943500">
                  <a:extLst>
                    <a:ext uri="{9D8B030D-6E8A-4147-A177-3AD203B41FA5}">
                      <a16:colId xmlns:a16="http://schemas.microsoft.com/office/drawing/2014/main" val="20003"/>
                    </a:ext>
                  </a:extLst>
                </a:gridCol>
              </a:tblGrid>
              <a:tr h="219075">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項目</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222222"/>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活動</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222222"/>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內容</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222222"/>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說明</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222222"/>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438150">
                <a:tc rowSpan="6">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點火起飛</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rowSpan="2">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提供團隊曝光機會</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sz="1200" dirty="0">
                          <a:latin typeface="Courier New"/>
                          <a:ea typeface="Courier New"/>
                          <a:cs typeface="Courier New"/>
                          <a:sym typeface="Courier New"/>
                        </a:rPr>
                        <a:t>投資媒合會</a:t>
                      </a:r>
                      <a:endParaRPr sz="1200" dirty="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引策略型投資，擴大新創團隊募資管道</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extLst>
                  <a:ext uri="{0D108BD9-81ED-4DB2-BD59-A6C34878D82A}">
                    <a16:rowId xmlns:a16="http://schemas.microsoft.com/office/drawing/2014/main" val="10001"/>
                  </a:ext>
                </a:extLst>
              </a:tr>
              <a:tr h="219075">
                <a:tc vMerge="1">
                  <a:txBody>
                    <a:bodyPr/>
                    <a:lstStyle/>
                    <a:p>
                      <a:endParaRPr lang="zh-TW"/>
                    </a:p>
                  </a:txBody>
                  <a:tcPr/>
                </a:tc>
                <a:tc vMerge="1">
                  <a:txBody>
                    <a:bodyPr/>
                    <a:lstStyle/>
                    <a:p>
                      <a:endParaRPr lang="zh-TW"/>
                    </a:p>
                  </a:txBody>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Demo Day</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提供潛力新創團隊曝光機會</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extLst>
                  <a:ext uri="{0D108BD9-81ED-4DB2-BD59-A6C34878D82A}">
                    <a16:rowId xmlns:a16="http://schemas.microsoft.com/office/drawing/2014/main" val="10002"/>
                  </a:ext>
                </a:extLst>
              </a:tr>
              <a:tr h="438150">
                <a:tc vMerge="1">
                  <a:txBody>
                    <a:bodyPr/>
                    <a:lstStyle/>
                    <a:p>
                      <a:endParaRPr lang="zh-TW"/>
                    </a:p>
                  </a:txBody>
                  <a:tcPr/>
                </a:tc>
                <a:tc rowSpan="4">
                  <a:txBody>
                    <a:bodyPr/>
                    <a:lstStyle/>
                    <a:p>
                      <a:pPr marL="0" lvl="0" indent="0" algn="ctr" rtl="0">
                        <a:lnSpc>
                          <a:spcPct val="115000"/>
                        </a:lnSpc>
                        <a:spcBef>
                          <a:spcPts val="0"/>
                        </a:spcBef>
                        <a:spcAft>
                          <a:spcPts val="0"/>
                        </a:spcAft>
                        <a:buNone/>
                      </a:pPr>
                      <a:r>
                        <a:rPr lang="zh-TW" sz="1200"/>
                        <a:t>創新倡議內容與活動</a:t>
                      </a:r>
                      <a:endParaRPr sz="1200"/>
                    </a:p>
                    <a:p>
                      <a:pPr marL="0" lvl="0" indent="0" algn="ctr" rtl="0">
                        <a:lnSpc>
                          <a:spcPct val="115000"/>
                        </a:lnSpc>
                        <a:spcBef>
                          <a:spcPts val="0"/>
                        </a:spcBef>
                        <a:spcAft>
                          <a:spcPts val="0"/>
                        </a:spcAft>
                        <a:buNone/>
                      </a:pPr>
                      <a:r>
                        <a:rPr lang="zh-TW" sz="1200"/>
                        <a:t>建立創新創業氛圍</a:t>
                      </a:r>
                      <a:endParaRPr sz="1200"/>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導入企業教育課程</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將外部創新思維與方法帶入企業，優化台灣創業環境機</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extLst>
                  <a:ext uri="{0D108BD9-81ED-4DB2-BD59-A6C34878D82A}">
                    <a16:rowId xmlns:a16="http://schemas.microsoft.com/office/drawing/2014/main" val="10003"/>
                  </a:ext>
                </a:extLst>
              </a:tr>
              <a:tr h="438150">
                <a:tc vMerge="1">
                  <a:txBody>
                    <a:bodyPr/>
                    <a:lstStyle/>
                    <a:p>
                      <a:endParaRPr lang="zh-TW"/>
                    </a:p>
                  </a:txBody>
                  <a:tcPr/>
                </a:tc>
                <a:tc vMerge="1">
                  <a:txBody>
                    <a:bodyPr/>
                    <a:lstStyle/>
                    <a:p>
                      <a:endParaRPr lang="zh-TW"/>
                    </a:p>
                  </a:txBody>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舉辦創新論壇-</a:t>
                      </a:r>
                      <a:endParaRPr sz="1200">
                        <a:latin typeface="Courier New"/>
                        <a:ea typeface="Courier New"/>
                        <a:cs typeface="Courier New"/>
                        <a:sym typeface="Courier New"/>
                      </a:endParaRPr>
                    </a:p>
                    <a:p>
                      <a:pPr marL="0" lvl="0" indent="0" algn="ctr" rtl="0">
                        <a:lnSpc>
                          <a:spcPct val="115000"/>
                        </a:lnSpc>
                        <a:spcBef>
                          <a:spcPts val="0"/>
                        </a:spcBef>
                        <a:spcAft>
                          <a:spcPts val="0"/>
                        </a:spcAft>
                        <a:buNone/>
                      </a:pPr>
                      <a:r>
                        <a:rPr lang="zh-TW" sz="1200">
                          <a:latin typeface="Courier New"/>
                          <a:ea typeface="Courier New"/>
                          <a:cs typeface="Courier New"/>
                          <a:sym typeface="Courier New"/>
                        </a:rPr>
                        <a:t>創新創業嘉年華</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主辦或協辦各式國際級交流活動，打造更廣闊的視野，提升台大知名度</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extLst>
                  <a:ext uri="{0D108BD9-81ED-4DB2-BD59-A6C34878D82A}">
                    <a16:rowId xmlns:a16="http://schemas.microsoft.com/office/drawing/2014/main" val="10004"/>
                  </a:ext>
                </a:extLst>
              </a:tr>
              <a:tr h="247650">
                <a:tc vMerge="1">
                  <a:txBody>
                    <a:bodyPr/>
                    <a:lstStyle/>
                    <a:p>
                      <a:endParaRPr lang="zh-TW"/>
                    </a:p>
                  </a:txBody>
                  <a:tcPr/>
                </a:tc>
                <a:tc vMerge="1">
                  <a:txBody>
                    <a:bodyPr/>
                    <a:lstStyle/>
                    <a:p>
                      <a:endParaRPr lang="zh-TW"/>
                    </a:p>
                  </a:txBody>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PodCast</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rowSpan="2">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於產業生態圈網絡提供創業知識深度內容</a:t>
                      </a:r>
                      <a:endParaRPr sz="120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extLst>
                  <a:ext uri="{0D108BD9-81ED-4DB2-BD59-A6C34878D82A}">
                    <a16:rowId xmlns:a16="http://schemas.microsoft.com/office/drawing/2014/main" val="10005"/>
                  </a:ext>
                </a:extLst>
              </a:tr>
              <a:tr h="219075">
                <a:tc vMerge="1">
                  <a:txBody>
                    <a:bodyPr/>
                    <a:lstStyle/>
                    <a:p>
                      <a:endParaRPr lang="zh-TW"/>
                    </a:p>
                  </a:txBody>
                  <a:tcPr/>
                </a:tc>
                <a:tc vMerge="1">
                  <a:txBody>
                    <a:bodyPr/>
                    <a:lstStyle/>
                    <a:p>
                      <a:endParaRPr lang="zh-TW"/>
                    </a:p>
                  </a:txBody>
                  <a:tcPr/>
                </a:tc>
                <a:tc>
                  <a:txBody>
                    <a:bodyPr/>
                    <a:lstStyle/>
                    <a:p>
                      <a:pPr marL="0" lvl="0" indent="0" algn="ctr" rtl="0">
                        <a:lnSpc>
                          <a:spcPct val="115000"/>
                        </a:lnSpc>
                        <a:spcBef>
                          <a:spcPts val="0"/>
                        </a:spcBef>
                        <a:spcAft>
                          <a:spcPts val="0"/>
                        </a:spcAft>
                        <a:buNone/>
                      </a:pPr>
                      <a:r>
                        <a:rPr lang="zh-TW" sz="1200" dirty="0">
                          <a:latin typeface="Courier New"/>
                          <a:ea typeface="Courier New"/>
                          <a:cs typeface="Courier New"/>
                          <a:sym typeface="Courier New"/>
                        </a:rPr>
                        <a:t>社群經營</a:t>
                      </a:r>
                      <a:endParaRPr sz="1200" dirty="0">
                        <a:latin typeface="Courier New"/>
                        <a:ea typeface="Courier New"/>
                        <a:cs typeface="Courier New"/>
                        <a:sym typeface="Courier New"/>
                      </a:endParaRPr>
                    </a:p>
                  </a:txBody>
                  <a:tcPr marL="28575" marR="28575" marT="91425" marB="91425" anchor="ctr">
                    <a:lnL w="5300" cap="flat" cmpd="sng">
                      <a:solidFill>
                        <a:srgbClr val="222222"/>
                      </a:solidFill>
                      <a:prstDash val="solid"/>
                      <a:round/>
                      <a:headEnd type="none" w="sm" len="sm"/>
                      <a:tailEnd type="none" w="sm" len="sm"/>
                    </a:lnL>
                    <a:lnR w="5300" cap="flat" cmpd="sng">
                      <a:solidFill>
                        <a:srgbClr val="222222"/>
                      </a:solidFill>
                      <a:prstDash val="solid"/>
                      <a:round/>
                      <a:headEnd type="none" w="sm" len="sm"/>
                      <a:tailEnd type="none" w="sm" len="sm"/>
                    </a:lnR>
                    <a:lnT w="5300" cap="flat" cmpd="sng">
                      <a:solidFill>
                        <a:srgbClr val="222222"/>
                      </a:solidFill>
                      <a:prstDash val="solid"/>
                      <a:round/>
                      <a:headEnd type="none" w="sm" len="sm"/>
                      <a:tailEnd type="none" w="sm" len="sm"/>
                    </a:lnT>
                    <a:lnB w="5300" cap="flat" cmpd="sng">
                      <a:solidFill>
                        <a:srgbClr val="222222"/>
                      </a:solidFill>
                      <a:prstDash val="solid"/>
                      <a:round/>
                      <a:headEnd type="none" w="sm" len="sm"/>
                      <a:tailEnd type="none" w="sm" len="sm"/>
                    </a:lnB>
                  </a:tcPr>
                </a:tc>
                <a:tc vMerge="1">
                  <a:txBody>
                    <a:bodyPr/>
                    <a:lstStyle/>
                    <a:p>
                      <a:endParaRPr lang="zh-TW"/>
                    </a:p>
                  </a:txBody>
                  <a:tcPr/>
                </a:tc>
                <a:extLst>
                  <a:ext uri="{0D108BD9-81ED-4DB2-BD59-A6C34878D82A}">
                    <a16:rowId xmlns:a16="http://schemas.microsoft.com/office/drawing/2014/main" val="10006"/>
                  </a:ext>
                </a:extLst>
              </a:tr>
            </a:tbl>
          </a:graphicData>
        </a:graphic>
      </p:graphicFrame>
      <p:sp>
        <p:nvSpPr>
          <p:cNvPr id="2" name="投影片編號版面配置區 1">
            <a:extLst>
              <a:ext uri="{FF2B5EF4-FFF2-40B4-BE49-F238E27FC236}">
                <a16:creationId xmlns:a16="http://schemas.microsoft.com/office/drawing/2014/main" id="{40D60B3B-FE08-45B9-91B4-F254498C26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16</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a:spLocks noGrp="1"/>
          </p:cNvSpPr>
          <p:nvPr>
            <p:ph type="title"/>
          </p:nvPr>
        </p:nvSpPr>
        <p:spPr>
          <a:xfrm>
            <a:off x="1622800" y="501975"/>
            <a:ext cx="7209600" cy="70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zh-TW" altLang="en-US" sz="3300" dirty="0"/>
              <a:t>預算配置</a:t>
            </a:r>
            <a:r>
              <a:rPr lang="zh-TW" sz="3300" dirty="0"/>
              <a:t>-</a:t>
            </a:r>
            <a:r>
              <a:rPr lang="zh-TW" sz="3300" dirty="0">
                <a:solidFill>
                  <a:schemeClr val="accent3"/>
                </a:solidFill>
              </a:rPr>
              <a:t>行政</a:t>
            </a:r>
            <a:endParaRPr sz="3300" dirty="0">
              <a:solidFill>
                <a:schemeClr val="accent3"/>
              </a:solidFill>
            </a:endParaRPr>
          </a:p>
        </p:txBody>
      </p:sp>
      <p:graphicFrame>
        <p:nvGraphicFramePr>
          <p:cNvPr id="165" name="Google Shape;165;p26"/>
          <p:cNvGraphicFramePr/>
          <p:nvPr/>
        </p:nvGraphicFramePr>
        <p:xfrm>
          <a:off x="828800" y="1678825"/>
          <a:ext cx="7653425" cy="1766611"/>
        </p:xfrm>
        <a:graphic>
          <a:graphicData uri="http://schemas.openxmlformats.org/drawingml/2006/table">
            <a:tbl>
              <a:tblPr>
                <a:noFill/>
                <a:tableStyleId>{24A2EA47-6575-4F5B-A215-B25CD3342101}</a:tableStyleId>
              </a:tblPr>
              <a:tblGrid>
                <a:gridCol w="870950">
                  <a:extLst>
                    <a:ext uri="{9D8B030D-6E8A-4147-A177-3AD203B41FA5}">
                      <a16:colId xmlns:a16="http://schemas.microsoft.com/office/drawing/2014/main" val="20000"/>
                    </a:ext>
                  </a:extLst>
                </a:gridCol>
                <a:gridCol w="1818100">
                  <a:extLst>
                    <a:ext uri="{9D8B030D-6E8A-4147-A177-3AD203B41FA5}">
                      <a16:colId xmlns:a16="http://schemas.microsoft.com/office/drawing/2014/main" val="20001"/>
                    </a:ext>
                  </a:extLst>
                </a:gridCol>
                <a:gridCol w="1992275">
                  <a:extLst>
                    <a:ext uri="{9D8B030D-6E8A-4147-A177-3AD203B41FA5}">
                      <a16:colId xmlns:a16="http://schemas.microsoft.com/office/drawing/2014/main" val="20002"/>
                    </a:ext>
                  </a:extLst>
                </a:gridCol>
                <a:gridCol w="2972100">
                  <a:extLst>
                    <a:ext uri="{9D8B030D-6E8A-4147-A177-3AD203B41FA5}">
                      <a16:colId xmlns:a16="http://schemas.microsoft.com/office/drawing/2014/main" val="20003"/>
                    </a:ext>
                  </a:extLst>
                </a:gridCol>
              </a:tblGrid>
              <a:tr h="399100">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項目</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活動</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內容</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zh-TW" sz="1200" b="1">
                          <a:latin typeface="Courier New"/>
                          <a:ea typeface="Courier New"/>
                          <a:cs typeface="Courier New"/>
                          <a:sym typeface="Courier New"/>
                        </a:rPr>
                        <a:t>說明</a:t>
                      </a:r>
                      <a:endParaRPr sz="1200" b="1">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219075">
                <a:tc rowSpan="3">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行政</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rowSpan="3">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單位運營</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人事薪資</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主任、執行長、專任助理及兼任助理</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38150">
                <a:tc vMerge="1">
                  <a:txBody>
                    <a:bodyPr/>
                    <a:lstStyle/>
                    <a:p>
                      <a:endParaRPr lang="zh-TW"/>
                    </a:p>
                  </a:txBody>
                  <a:tcPr/>
                </a:tc>
                <a:tc vMerge="1">
                  <a:txBody>
                    <a:bodyPr/>
                    <a:lstStyle/>
                    <a:p>
                      <a:endParaRPr lang="zh-TW"/>
                    </a:p>
                  </a:txBody>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辦公室租金</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卓越研究大樓7樓，包含中心辦公室、會議室、課程教室</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19075">
                <a:tc vMerge="1">
                  <a:txBody>
                    <a:bodyPr/>
                    <a:lstStyle/>
                    <a:p>
                      <a:endParaRPr lang="zh-TW"/>
                    </a:p>
                  </a:txBody>
                  <a:tcPr/>
                </a:tc>
                <a:tc vMerge="1">
                  <a:txBody>
                    <a:bodyPr/>
                    <a:lstStyle/>
                    <a:p>
                      <a:endParaRPr lang="zh-TW"/>
                    </a:p>
                  </a:txBody>
                  <a:tcPr/>
                </a:tc>
                <a:tc>
                  <a:txBody>
                    <a:bodyPr/>
                    <a:lstStyle/>
                    <a:p>
                      <a:pPr marL="0" lvl="0" indent="0" algn="ctr" rtl="0">
                        <a:lnSpc>
                          <a:spcPct val="115000"/>
                        </a:lnSpc>
                        <a:spcBef>
                          <a:spcPts val="0"/>
                        </a:spcBef>
                        <a:spcAft>
                          <a:spcPts val="0"/>
                        </a:spcAft>
                        <a:buNone/>
                      </a:pPr>
                      <a:r>
                        <a:rPr lang="zh-TW" sz="1200">
                          <a:latin typeface="Courier New"/>
                          <a:ea typeface="Courier New"/>
                          <a:cs typeface="Courier New"/>
                          <a:sym typeface="Courier New"/>
                        </a:rPr>
                        <a:t>後勤營運</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zh-TW" sz="1200">
                          <a:latin typeface="Courier New"/>
                          <a:ea typeface="Courier New"/>
                          <a:cs typeface="Courier New"/>
                          <a:sym typeface="Courier New"/>
                        </a:rPr>
                        <a:t>中心營運及後勤庶務等相關支出</a:t>
                      </a:r>
                      <a:endParaRPr sz="1200">
                        <a:latin typeface="Courier New"/>
                        <a:ea typeface="Courier New"/>
                        <a:cs typeface="Courier New"/>
                        <a:sym typeface="Courier New"/>
                      </a:endParaRPr>
                    </a:p>
                  </a:txBody>
                  <a:tcPr marL="28575" marR="28575" marT="91425" marB="91425" anchor="ctr">
                    <a:lnL w="5300" cap="flat" cmpd="sng">
                      <a:solidFill>
                        <a:srgbClr val="000000"/>
                      </a:solidFill>
                      <a:prstDash val="solid"/>
                      <a:round/>
                      <a:headEnd type="none" w="sm" len="sm"/>
                      <a:tailEnd type="none" w="sm" len="sm"/>
                    </a:lnL>
                    <a:lnR w="5300" cap="flat" cmpd="sng">
                      <a:solidFill>
                        <a:srgbClr val="000000"/>
                      </a:solidFill>
                      <a:prstDash val="solid"/>
                      <a:round/>
                      <a:headEnd type="none" w="sm" len="sm"/>
                      <a:tailEnd type="none" w="sm" len="sm"/>
                    </a:lnR>
                    <a:lnT w="5300" cap="flat" cmpd="sng">
                      <a:solidFill>
                        <a:srgbClr val="000000"/>
                      </a:solidFill>
                      <a:prstDash val="solid"/>
                      <a:round/>
                      <a:headEnd type="none" w="sm" len="sm"/>
                      <a:tailEnd type="none" w="sm" len="sm"/>
                    </a:lnT>
                    <a:lnB w="53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 name="投影片編號版面配置區 1">
            <a:extLst>
              <a:ext uri="{FF2B5EF4-FFF2-40B4-BE49-F238E27FC236}">
                <a16:creationId xmlns:a16="http://schemas.microsoft.com/office/drawing/2014/main" id="{865D6E50-0624-4B82-9CFE-2C5B43A8B9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TW" smtClean="0"/>
              <a:t>17</a:t>
            </a:fld>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TotalTime>
  <Words>1287</Words>
  <Application>Microsoft Office PowerPoint</Application>
  <PresentationFormat>如螢幕大小 (16:9)</PresentationFormat>
  <Paragraphs>177</Paragraphs>
  <Slides>17</Slides>
  <Notes>13</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17</vt:i4>
      </vt:variant>
    </vt:vector>
  </HeadingPairs>
  <TitlesOfParts>
    <vt:vector size="29" baseType="lpstr">
      <vt:lpstr>PT Sans Narrow</vt:lpstr>
      <vt:lpstr>宋體-簡</vt:lpstr>
      <vt:lpstr>Arial</vt:lpstr>
      <vt:lpstr>MicrosoftJhengHeiRegular</vt:lpstr>
      <vt:lpstr>Times New Roman</vt:lpstr>
      <vt:lpstr>Wingdings</vt:lpstr>
      <vt:lpstr>Open Sans</vt:lpstr>
      <vt:lpstr>Heiti TC</vt:lpstr>
      <vt:lpstr>Courier New</vt:lpstr>
      <vt:lpstr>Calibri</vt:lpstr>
      <vt:lpstr>MicrosoftJhengHeiBold</vt:lpstr>
      <vt:lpstr>Tropic</vt:lpstr>
      <vt:lpstr>校級研究中心三年期營運計畫書</vt:lpstr>
      <vt:lpstr>大綱</vt:lpstr>
      <vt:lpstr>中心使命：打造台大師生的創業生態系</vt:lpstr>
      <vt:lpstr>校友團隊</vt:lpstr>
      <vt:lpstr>發展策略：H3I</vt:lpstr>
      <vt:lpstr>發展策略：Incubation 輔導培育</vt:lpstr>
      <vt:lpstr>發展策略：Integration 對接整合</vt:lpstr>
      <vt:lpstr>發展策略： Ignition 點火起飛</vt:lpstr>
      <vt:lpstr>2025-2027工作重點：強化校內資源整合串接</vt:lpstr>
      <vt:lpstr>2025-2027工作重點：提高師生創業意願</vt:lpstr>
      <vt:lpstr>2025-2027工作重點：強化中心與台灣創新創業生態圈的連結</vt:lpstr>
      <vt:lpstr>中心成員及組織</vt:lpstr>
      <vt:lpstr>空間規劃</vt:lpstr>
      <vt:lpstr>預算配置-輔導培育(Incubation)</vt:lpstr>
      <vt:lpstr>預算配置-對接整合(Integration)</vt:lpstr>
      <vt:lpstr>預算配置-點火起飛(Ignition)</vt:lpstr>
      <vt:lpstr>預算配置-行政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 01  校級研究中心多年期營運計畫書</dc:title>
  <dc:creator>joung</dc:creator>
  <cp:lastModifiedBy>yuh-jzer joung</cp:lastModifiedBy>
  <cp:revision>28</cp:revision>
  <dcterms:modified xsi:type="dcterms:W3CDTF">2025-01-20T07:32:51Z</dcterms:modified>
</cp:coreProperties>
</file>